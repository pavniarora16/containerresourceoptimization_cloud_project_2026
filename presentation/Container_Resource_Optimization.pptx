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0" r:id="rId4"/>
    <p:sldId id="260" r:id="rId5"/>
    <p:sldId id="258" r:id="rId6"/>
    <p:sldId id="259" r:id="rId7"/>
    <p:sldId id="261" r:id="rId8"/>
    <p:sldId id="273" r:id="rId9"/>
    <p:sldId id="262" r:id="rId10"/>
    <p:sldId id="274" r:id="rId11"/>
    <p:sldId id="263" r:id="rId12"/>
    <p:sldId id="264" r:id="rId13"/>
    <p:sldId id="272" r:id="rId14"/>
    <p:sldId id="276" r:id="rId15"/>
    <p:sldId id="277" r:id="rId16"/>
    <p:sldId id="278" r:id="rId17"/>
    <p:sldId id="265" r:id="rId18"/>
    <p:sldId id="275" r:id="rId19"/>
    <p:sldId id="279" r:id="rId20"/>
    <p:sldId id="266" r:id="rId21"/>
    <p:sldId id="267" r:id="rId22"/>
    <p:sldId id="268" r:id="rId23"/>
    <p:sldId id="269" r:id="rId24"/>
    <p:sldId id="271"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219" autoAdjust="0"/>
    <p:restoredTop sz="94610"/>
  </p:normalViewPr>
  <p:slideViewPr>
    <p:cSldViewPr snapToGrid="0" snapToObjects="1">
      <p:cViewPr>
        <p:scale>
          <a:sx n="87" d="100"/>
          <a:sy n="87" d="100"/>
        </p:scale>
        <p:origin x="50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IN" sz="1400" b="0" i="0" u="none" strike="noStrike">
                <a:solidFill>
                  <a:srgbClr val="0B1F3A"/>
                </a:solidFill>
                <a:latin typeface="+mn-lt"/>
              </a:rPr>
              <a:t>Error (lower is better)</a:t>
            </a:r>
          </a:p>
        </c:rich>
      </c:tx>
      <c:overlay val="0"/>
    </c:title>
    <c:autoTitleDeleted val="0"/>
    <c:plotArea>
      <c:layout/>
      <c:barChart>
        <c:barDir val="col"/>
        <c:grouping val="clustered"/>
        <c:varyColors val="0"/>
        <c:ser>
          <c:idx val="0"/>
          <c:order val="0"/>
          <c:tx>
            <c:strRef>
              <c:f>Sheet1!$B$1</c:f>
              <c:strCache>
                <c:ptCount val="1"/>
                <c:pt idx="0">
                  <c:v>CPU</c:v>
                </c:pt>
              </c:strCache>
            </c:strRef>
          </c:tx>
          <c:spPr>
            <a:solidFill>
              <a:srgbClr val="12305A"/>
            </a:solidFill>
            <a:effectLst/>
          </c:spPr>
          <c:invertIfNegative val="0"/>
          <c:dLbls>
            <c:numFmt formatCode="0.0000" sourceLinked="0"/>
            <c:spPr>
              <a:noFill/>
              <a:ln>
                <a:noFill/>
              </a:ln>
              <a:effectLst/>
            </c:spPr>
            <c:txPr>
              <a:bodyPr/>
              <a:lstStyle/>
              <a:p>
                <a:pPr>
                  <a:defRPr sz="1100" b="0" i="0" u="none" strike="noStrike">
                    <a:solidFill>
                      <a:srgbClr val="1E293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MAE</c:v>
                </c:pt>
                <c:pt idx="1">
                  <c:v>RMSE</c:v>
                </c:pt>
              </c:strCache>
            </c:strRef>
          </c:cat>
          <c:val>
            <c:numRef>
              <c:f>Sheet1!$B$2:$B$3</c:f>
              <c:numCache>
                <c:formatCode>General</c:formatCode>
                <c:ptCount val="2"/>
                <c:pt idx="0">
                  <c:v>1.5800000000000002E-2</c:v>
                </c:pt>
                <c:pt idx="1">
                  <c:v>2.93E-2</c:v>
                </c:pt>
              </c:numCache>
            </c:numRef>
          </c:val>
          <c:extLst>
            <c:ext xmlns:c16="http://schemas.microsoft.com/office/drawing/2014/chart" uri="{C3380CC4-5D6E-409C-BE32-E72D297353CC}">
              <c16:uniqueId val="{00000000-C5BC-4940-ABB9-472FE3C3A410}"/>
            </c:ext>
          </c:extLst>
        </c:ser>
        <c:ser>
          <c:idx val="1"/>
          <c:order val="1"/>
          <c:tx>
            <c:strRef>
              <c:f>Sheet1!$C$1</c:f>
              <c:strCache>
                <c:ptCount val="1"/>
                <c:pt idx="0">
                  <c:v>Memory</c:v>
                </c:pt>
              </c:strCache>
            </c:strRef>
          </c:tx>
          <c:spPr>
            <a:solidFill>
              <a:srgbClr val="06B6D4"/>
            </a:solidFill>
            <a:effectLst/>
          </c:spPr>
          <c:invertIfNegative val="0"/>
          <c:dLbls>
            <c:numFmt formatCode="0.0000" sourceLinked="0"/>
            <c:spPr>
              <a:noFill/>
              <a:ln>
                <a:noFill/>
              </a:ln>
              <a:effectLst/>
            </c:spPr>
            <c:txPr>
              <a:bodyPr/>
              <a:lstStyle/>
              <a:p>
                <a:pPr>
                  <a:defRPr sz="1100" b="0" i="0" u="none" strike="noStrike">
                    <a:solidFill>
                      <a:srgbClr val="1E293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MAE</c:v>
                </c:pt>
                <c:pt idx="1">
                  <c:v>RMSE</c:v>
                </c:pt>
              </c:strCache>
            </c:strRef>
          </c:cat>
          <c:val>
            <c:numRef>
              <c:f>Sheet1!$C$2:$C$3</c:f>
              <c:numCache>
                <c:formatCode>General</c:formatCode>
                <c:ptCount val="2"/>
                <c:pt idx="0">
                  <c:v>1.9800000000000002E-2</c:v>
                </c:pt>
                <c:pt idx="1">
                  <c:v>3.5200000000000002E-2</c:v>
                </c:pt>
              </c:numCache>
            </c:numRef>
          </c:val>
          <c:extLst>
            <c:ext xmlns:c16="http://schemas.microsoft.com/office/drawing/2014/chart" uri="{C3380CC4-5D6E-409C-BE32-E72D297353CC}">
              <c16:uniqueId val="{00000001-C5BC-4940-ABB9-472FE3C3A41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CE6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4748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IN" sz="1400" b="0" i="0" u="none" strike="noStrike">
                <a:solidFill>
                  <a:srgbClr val="0B1F3A"/>
                </a:solidFill>
                <a:latin typeface="+mn-lt"/>
              </a:rPr>
              <a:t>R² (higher is better)</a:t>
            </a:r>
          </a:p>
        </c:rich>
      </c:tx>
      <c:overlay val="0"/>
    </c:title>
    <c:autoTitleDeleted val="0"/>
    <c:plotArea>
      <c:layout/>
      <c:barChart>
        <c:barDir val="col"/>
        <c:grouping val="clustered"/>
        <c:varyColors val="0"/>
        <c:ser>
          <c:idx val="0"/>
          <c:order val="0"/>
          <c:tx>
            <c:strRef>
              <c:f>Sheet1!$B$1</c:f>
              <c:strCache>
                <c:ptCount val="1"/>
                <c:pt idx="0">
                  <c:v>R²</c:v>
                </c:pt>
              </c:strCache>
            </c:strRef>
          </c:tx>
          <c:spPr>
            <a:solidFill>
              <a:srgbClr val="0E7490"/>
            </a:solidFill>
            <a:effectLst/>
          </c:spPr>
          <c:invertIfNegative val="0"/>
          <c:dLbls>
            <c:numFmt formatCode="0.0000" sourceLinked="0"/>
            <c:spPr>
              <a:noFill/>
              <a:ln>
                <a:noFill/>
              </a:ln>
              <a:effectLst/>
            </c:spPr>
            <c:txPr>
              <a:bodyPr/>
              <a:lstStyle/>
              <a:p>
                <a:pPr>
                  <a:defRPr sz="1100" b="0" i="0" u="none" strike="noStrike">
                    <a:solidFill>
                      <a:srgbClr val="1E293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CPU</c:v>
                </c:pt>
                <c:pt idx="1">
                  <c:v>Memory</c:v>
                </c:pt>
              </c:strCache>
            </c:strRef>
          </c:cat>
          <c:val>
            <c:numRef>
              <c:f>Sheet1!$B$2:$B$3</c:f>
              <c:numCache>
                <c:formatCode>General</c:formatCode>
                <c:ptCount val="2"/>
                <c:pt idx="0">
                  <c:v>0.1055</c:v>
                </c:pt>
                <c:pt idx="1">
                  <c:v>0.21429999999999999</c:v>
                </c:pt>
              </c:numCache>
            </c:numRef>
          </c:val>
          <c:extLst>
            <c:ext xmlns:c16="http://schemas.microsoft.com/office/drawing/2014/chart" uri="{C3380CC4-5D6E-409C-BE32-E72D297353CC}">
              <c16:uniqueId val="{00000000-D02C-410D-A86D-6420DE55886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CE6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8T18:23:21.126"/>
    </inkml:context>
    <inkml:brush xml:id="br0">
      <inkml:brushProperty name="width" value="0.1" units="cm"/>
      <inkml:brushProperty name="height" value="0.1" units="cm"/>
      <inkml:brushProperty name="color" value="#FFFFFF"/>
    </inkml:brush>
  </inkml:definitions>
  <inkml:trace contextRef="#ctx0" brushRef="#br0">1293 38 6553,'-1'13'357,"0"0"-1,-1 0 0,0 0 1,-8 26-1,10-39-352,0-1 0,0 1 0,0 0 0,0 0 0,0 0-1,0 0 1,0 0 0,0 0 0,0 0 0,0 0 0,0 0 0,0 0 0,0 0 0,0 0 0,0 0 0,0 0 0,0 0 0,0 0-1,0 0 1,-1-1 0,1 1 0,0 0 0,0 0 0,0 0 0,0 0 0,0 0 0,0 0 0,0 0 0,0 0 0,0 0-1,0 0 1,0 0 0,0 0 0,0 0 0,0 0 0,0 0 0,0 0 0,-1 0 0,1 0 0,0 0 0,0 0 0,0 0 0,0 0-1,0 0 1,0 0 0,0 0 0,0 0 0,-2-13 3,1-16-70,1 19 79,1 0-1,0 0 1,0 1-1,1-1 1,0 1-1,7-17 1,-8 26 355,-1 7-153,-3 9 58,-13 27 786,-35 69 1,49-107-991,-8 19 272,1 1 0,2 1 0,0 0 0,2 0 0,1 0 0,-1 34 0,9-80-457,1 1-1,1 0 1,0 1-1,2-1 1,0 2-1,11-19 1,-15 31 280,-4 11 1,-5 11 61,-2-4-44,-1-1 0,0 0 1,-12 13-1,16-19-119,-1-1 1,0 0-1,0-1 0,0 1 0,-1-1 1,0 0-1,0 0 0,-10 5 1,15-9-58,1 0 1,-1 1-1,0-1 1,1 0 0,-1 0-1,1 1 1,-1-1-1,0 0 1,1 0 0,-1 0-1,0 0 1,0 0 0,1 0-1,-1 0 1,0 0-1,1 0 1,-1 0 0,0 0-1,1 0 1,-1 0 0,0-1-1,1 1 1,-1 0-1,1 0 1,-1-1 0,0 1-1,1-1 1,-1 1 0,0-1-1,0 0-16,1-1 0,-1 1 0,1 0 0,0 0 0,-1-1 0,1 1 0,0 0 0,0-1 0,0 1 0,0 0 0,0 0 0,0-1 0,0 1 0,1-2 0,0-4-72,1 0 0,0 1 0,0-1 0,6-11 0,-2 8 32,1 1 0,-1 1-1,2-1 1,-1 1 0,1 1 0,10-9-1,-12 12 98,0-1 0,0 1-1,0 0 1,0 0 0,1 1-1,0 0 1,0 0-1,0 1 1,0 0 0,8-2-1,-14 4-35,0 0-1,0-1 0,1 1 0,-1 0 1,0 0-1,1 0 0,-1 1 1,0-1-1,1 0 0,-1 0 1,0 1-1,1-1 0,-1 1 1,0-1-1,0 1 0,0-1 1,1 1-1,-1 0 0,0 0 1,0-1-1,0 1 0,0 0 1,1 1-1,-1 0 7,0 0-1,0 0 1,-1 0 0,1 0 0,0 0 0,-1 0-1,1 0 1,-1 0 0,1 0 0,-1 0 0,0 0-1,0 0 1,0 3 0,-1 1 34,1 0-1,-1 0 1,0 0-1,-1 0 1,0 0-1,0 0 1,0-1-1,0 1 1,-5 6-1,6-10-26,-1 1 0,0-1 0,0 0 0,0 0 0,-1 0 0,1 0 0,0 0 0,-1 0 0,1 0 0,-1-1 0,0 1 0,1-1 0,-1 0 0,0 0 0,0 0 0,-5 1 0,7-2-29,-1 0 0,1 0 0,-1 0 1,1 0-1,-1 0 0,1-1 0,-1 1 1,1 0-1,-1-1 0,1 1 0,0-1 1,-1 0-1,1 1 0,0-1 0,0 0 0,-1 0 1,1 0-1,0 0 0,0 0 0,0 0 1,0 0-1,0 0 0,0 0 0,1 0 1,-1-1-1,0 1 0,0 0 0,1-1 1,-1 1-1,1-1 0,-1 1 0,1 0 1,0-1-1,0 1 0,-1-3 0,0-2-61,1-1-1,-1 0 0,1 1 0,0-1 0,1 0 0,-1 1 0,1-1 0,4-12 1,-4 17 62,-1-1 1,1 1 0,0 0 0,0-1 0,0 1 0,0 0 0,0 0 0,1-1 0,-1 1 0,1 0 0,-1 1 0,1-1 0,0 0-1,0 0 1,0 1 0,0-1 0,0 1 0,0-1 0,0 1 0,0 0 0,0 0 0,1 0 0,-1 0 0,1 0 0,-1 1 0,4-1 0,-5 1 11,1 0 1,-1 0-1,0 0 1,0 1-1,1-1 1,-1 1-1,0-1 1,0 1-1,1-1 1,-1 1 0,0 0-1,0 0 1,0-1-1,0 1 1,0 0-1,0 0 1,0 0-1,-1 0 1,1 0 0,0 0-1,0 0 1,-1 0-1,1 1 1,-1-1-1,1 0 1,-1 0-1,1 1 1,-1-1 0,0 0-1,1 0 1,-1 1-1,0 2 1,1 6 77,0 1 1,0 20-1,-1-25-42,0 5 31,-1 0 0,0 0 0,0 0 0,-4 11 0,4-18-48,0 0-1,0-1 0,-1 1 1,0-1-1,1 0 0,-1 1 1,0-1-1,-1 0 0,1 0 1,0 0-1,-1-1 0,0 1 1,1 0-1,-1-1 0,-4 3 1,-4 3 148,16-8 53,20-14 10,-22 10-283,0 1 1,0-1 0,-1 0-1,0 0 1,0 0-1,0-1 1,0 1-1,-1 0 1,0-1-1,0 1 1,0-1 0,0-4-1,0 2-17,0 1-1,-1-1 1,0 0 0,0 1-1,-1-1 1,0 0-1,-2-9 1,2 15 67,1 0-1,0 0 1,-1 0 0,1 0-1,-1 1 1,1-1 0,-1 0-1,1 1 1,-1-1 0,0 0-1,1 1 1,-1-1 0,0 0-1,1 1 1,-1-1 0,0 1-1,0 0 1,0-1 0,1 1-1,-1-1 1,0 1 0,0 0-1,0 0 1,0 0 0,0-1-1,0 1 1,0 0 0,1 0-1,-1 0 1,0 0 0,0 1-1,0-1 1,0 0 0,0 0-1,0 0 1,0 1 0,1-1-1,-1 0 1,0 1 0,0-1-1,0 1 1,1-1 0,-1 1-1,-1 0 1,-3 2 37,0 0 1,0 1-1,0 0 0,1-1 1,-6 7-1,-30 38 277,36-43-283,0 1 0,1-1 0,-1 1-1,1 0 1,1 0 0,-1 0 0,-2 8 0,5-13-26,0 1 0,0 0 0,-1-1 1,1 1-1,0 0 0,0-1 0,1 1 1,-1 0-1,0 0 0,0-1 0,1 1 1,-1-1-1,1 1 0,0 0 0,-1-1 1,1 1-1,0-1 0,0 0 0,0 1 1,0-1-1,0 0 0,0 1 0,0-1 0,0 0 1,1 0-1,-1 0 0,0 0 0,1 0 1,-1 0-1,1 0 0,-1-1 0,1 1 1,2 0-1,-1 0-9,-1 0 1,0-1-1,1 1 1,-1-1-1,1 0 1,-1 1-1,1-1 1,-1-1-1,1 1 1,-1 0-1,0 0 1,1-1-1,-1 0 1,1 1-1,-1-1 1,0 0-1,0 0 1,1 0-1,-1 0 1,0-1-1,0 1 1,3-3-1,0-1-90,1-1 0,-1 0-1,0 0 1,-1 0 0,0-1-1,0 0 1,0 0 0,0 0-1,-1 0 1,0 0-1,-1-1 1,3-13 0,3-11-420,2 0 0,18-42 0,-14 41 65,16-62 0,-30 94 443,1 0 0,-1 0 0,1-1 0,-1 1 1,0 0-1,0 0 0,0 0 0,1 0 0,-1 0 1,0 0-1,0 0 0,0 0 0,-1-1 0,1 1 1,0 0-1,0 0 0,-1 0 0,1 0 1,0 0-1,-1 0 0,1 0 0,-1 0 0,1 0 1,-1 0-1,0 0 0,1 0 0,-1 1 0,0-1 1,0 0-1,0 0 0,0 1 0,1-1 0,-1 0 1,0 1-1,0-1 0,0 1 0,-2-1 1,1 1 15,0-1 1,0 1 0,0 1 0,0-1 0,1 0 0,-1 0 0,0 1 0,0-1 0,0 1 0,0 0 0,1-1 0,-1 1 0,0 0 0,1 0-1,-1 0 1,1 0 0,-1 0 0,1 1 0,-1-1 0,1 0 0,-2 3 0,-6 8 106,0 0 1,1 0-1,-8 18 1,13-26-92,1 0 1,1 0-1,-1 0 1,0 1-1,1-1 1,0 0-1,0 1 1,0-1-1,1 1 1,0-1-1,-1 1 1,1-1 0,1 1-1,1 8 1,-2-12-21,1 1 1,0-1-1,-1 0 1,1 0-1,0 1 1,0-1-1,0 0 1,0 0-1,0 0 1,0 0-1,1 0 1,-1 0-1,0 0 1,0-1-1,1 1 1,-1 0-1,0-1 1,1 1-1,-1-1 1,1 1-1,-1-1 1,0 0-1,1 0 1,-1 1-1,1-1 1,-1 0-1,1 0 1,1-1-1,8 0 77,-1 0 0,1-1 0,11-3 0,7-1 102,-20 5-118,0 0 0,1 1 0,-1 0 1,0 1-1,17 2 0,-24-3-61,-1 1 0,1-1 0,0 1 1,-1-1-1,1 1 0,-1 0 0,1 0 1,-1-1-1,1 1 0,-1 0 0,0 0 0,1 0 1,-1 1-1,0-1 0,0 0 0,0 0 1,0 1-1,0-1 0,0 1 0,0-1 1,0 1-1,-1-1 0,1 1 0,-1-1 0,1 1 1,-1-1-1,1 1 0,-1 0 0,0-1 1,0 1-1,0 0 0,0-1 0,0 1 0,0 0 1,0-1-1,-1 1 0,1 0 0,0-1 1,-2 4-1,1-3 6,0 1 0,0-1-1,0 0 1,0 1 0,0-1 0,-1 0 0,1 0 0,-1 0-1,1 0 1,-1 0 0,0 0 0,0 0 0,0-1 0,0 1-1,0-1 1,0 1 0,0-1 0,-1 0 0,1 0-1,0 0 1,-1 0 0,1 0 0,-1 0 0,1-1 0,-3 1-1,3-1-22,0 0-1,0 0 0,0 0 0,0 0 1,0 0-1,0 0 0,0 0 0,0-1 1,1 1-1,-1-1 0,0 1 0,0-1 0,0 0 1,1 0-1,-1 0 0,0 0 0,1 0 1,-1 0-1,1 0 0,-1 0 0,1-1 0,0 1 1,0-1-1,-1 1 0,1-1 0,0 1 1,0-1-1,0 0 0,0 1 0,1-1 0,-1 0 1,0 0-1,0-3 0,0-4-81,0 0 0,0 1 0,1-1 1,0 0-1,1 0 0,-1 0 0,4-10 0,-4 16 76,1 0-1,0 0 1,0 0 0,0 0-1,1 0 1,-1 1-1,0-1 1,1 1 0,0-1-1,0 1 1,2-3 0,-3 4 18,0 0 1,1 0 0,-1 0 0,0 0-1,1 1 1,-1-1 0,0 0 0,1 1-1,-1-1 1,1 1 0,-1 0 0,1-1 0,-1 1-1,1 0 1,0 0 0,-1 0 0,1 0-1,-1 0 1,1 0 0,-1 0 0,1 1-1,2 0 1,-2 0 1,0 0 1,-1 0-1,1 0 1,0 0-1,-1 1 0,1-1 1,-1 1-1,1-1 0,-1 1 1,0-1-1,0 1 0,1-1 1,-1 1-1,0 0 0,0 0 1,-1 0-1,1 0 0,0 0 1,-1 0-1,1 0 1,-1 0-1,0 0 0,1 3 1,0 5 40,0 0 1,-1 0 0,-1 15 0,0-20-26,1 1 0,-1-1 0,0 0 0,-1 1-1,1-1 1,-1 0 0,0 1 0,0-1 0,-1 0 0,1-1 0,-1 1 0,0 0 0,0-1 0,-8 8 0,8-9-6,-1 0-1,0-1 1,0 1 0,0-1 0,0 0-1,0 0 1,0 0 0,-1 0 0,1-1-1,-1 0 1,1 0 0,-1 0 0,1-1-1,-1 1 1,0-1 0,1 0 0,-10-1-1,12 0-25,0 1-1,0 0 1,0-1-1,0 0 1,0 1-1,0-1 1,0 0-1,0 0 1,0 0-1,0 0 0,1 0 1,-1-1-1,0 1 1,1 0-1,-1-1 1,1 0-1,-1 1 1,1-1-1,0 0 1,0 1-1,0-1 1,0 0-1,-1-3 1,-2-5-197,1 1 0,0-1 0,-2-19 0,-2-4-61,5 25 212,0 1 0,-1 0 0,0 0 0,0 0-1,0 0 1,-7-8 0,8 13 64,0 0-1,1 0 1,-1 0 0,0 0-1,0 0 1,0 1 0,-1-1-1,1 1 1,0-1-1,0 1 1,-1 0 0,1 0-1,-1 0 1,1 0-1,-1 0 1,0 1 0,1-1-1,-1 1 1,0 0-1,1 0 1,-5 0 0,-11 2 98,1 1 0,0 1-1,1 1 1,-28 10 0,27-8-10,-1-1 0,1 0 0,-1-2 0,-21 3 0,-222-4 882,134-5-502,105 2-383,-61 0 474,-104-12 0,67 0-168,104 11-317,0 1 0,0 1 0,0 0 0,1 1-1,-25 7 1,36-7-66,0-1 0,0 1 0,1 0 0,-1 0-1,1 0 1,-1 1 0,1-1 0,0 1 0,0 0-1,0 0 1,0 0 0,-2 4 0,4-6-14,1-1 0,-1 1 0,1 0 0,-1 0 0,1 0 0,-1 0 0,1 0 0,0 0 0,0 0 0,-1 0 0,1 0 0,0 0 0,0-1 0,0 1 0,0 0 0,0 0 0,0 0-1,0 0 1,0 0 0,1 0 0,-1 2 0,1-2 2,0 0 0,0 0 0,0 0 0,0 0 0,0 0-1,1 0 1,-1 0 0,0 0 0,0 0 0,1 0 0,-1-1-1,0 1 1,1 0 0,-1-1 0,1 1 0,-1-1-1,1 0 1,2 1 0,5 1-20,1 0 0,-1-1-1,1 0 1,-1-1 0,1 0 0,0 0 0,-1-1-1,1-1 1,-1 1 0,1-1 0,-1-1-1,0 0 1,0 0 0,0-1 0,0 0 0,-1 0-1,1-1 1,-1 0 0,10-9 0,13-4-7,-72 112 76,39-90-55,1 1 0,-1-1 0,1 1 0,0-1 0,0 1 1,0-1-1,0 1 0,1 5 0,0-9-3,0 0 1,0 0 0,0 0-1,0-1 1,0 1-1,0 0 1,1 0-1,-1 0 1,0 0-1,1-1 1,-1 1-1,0 0 1,1 0-1,-1-1 1,1 1-1,-1 0 1,1-1-1,-1 1 1,1-1-1,0 2 1,1-2-2,-1 0 0,0 1 0,0-1 0,0 0 0,0 0 0,0 0 0,0 1 0,1-1 1,-1-1-1,0 1 0,0 0 0,0 0 0,0 0 0,0-1 0,0 1 0,0 0 0,0-1 0,0 1 1,2-2-1,2-1-74,0 0 0,-1 0 0,1 0 0,-1-1 0,0 0 0,0 1 0,-1-2 0,5-5 1,25-39-701,-30 44 687,46-87-780,-109 182 1220,51-73-295,-1 0 1,-11 33 0,20-46-46,-1 1 1,1 0-1,0-1 0,0 1 0,0 0 1,0 0-1,1 0 0,0 0 1,0-1-1,0 1 0,1 0 1,0 0-1,0 0 0,0-1 0,0 1 1,4 7-1,-14-16 35,1 0 1,-1 0-1,0 1 1,0 0-1,-12-2 0,10 3-16,0 1 0,0 1 0,-19 0 0,27 0-25,1 1 1,-1-1-1,1 1 1,-1-1-1,1 1 1,0 0-1,-1 0 1,1 0-1,0 0 1,-3 2-1,4-2-2,0-1-1,1 1 1,-1 0-1,0 0 1,0 0-1,1-1 0,-1 1 1,1 0-1,-1 0 1,1 0-1,-1 0 1,1 0-1,0 0 0,-1 0 1,1 0-1,0 0 1,0 0-1,0 0 1,0 0-1,0 0 0,0 0 1,0 0-1,0 1 1,0-1-1,1 1 1,-1-1-1,0 0 1,1 0 0,-1 0 0,0 0 0,1 0-1,-1 0 1,1 0 0,0 0 0,-1 0 0,1 0-1,0 0 1,-1 0 0,1 0 0,0-1 0,0 1-1,0 0 1,0 0 0,0-1 0,0 1 0,0-1-1,0 1 1,0-1 0,0 1 0,0-1 0,0 0-1,0 1 1,0-1 0,1 0 0,-1 0 0,0 0-1,0 0 1,0 0 0,0 0 0,0 0-1,1 0 1,-1 0 0,0-1 0,0 1 0,0 0-1,2-2 1,2 1 4,-1-1 0,1 0-1,-1 0 1,0 0 0,0-1 0,0 1-1,0-1 1,7-6 0,-3 1-181,0-1 0,-1-1 1,1 1-1,-2-1 0,1-1 1,-2 1-1,1-1 0,-1 0 0,-1 0 1,5-19-1,-8 28 156,-1-1 1,0 0-1,0 0 1,0 0-1,0 0 1,0 0 0,-1 0-1,1 0 1,-1 0-1,0 0 1,1 0-1,-1 0 1,-1 0-1,1 1 1,0-1-1,-1 0 1,1 1-1,-1-1 1,0 1-1,0 0 1,0 0-1,0 0 1,0-1 0,-1 2-1,1-1 1,0 0-1,-1 0 1,0 1-1,1 0 1,-1-1-1,0 1 1,-3-1-1,2 1 32,0 0 1,0 1-1,0-1 0,1 1 0,-1 0 1,0 0-1,0 0 0,0 0 0,0 1 0,0 0 1,0 0-1,0 0 0,1 0 0,-1 0 0,0 1 1,1 0-1,-1-1 0,1 1 0,0 1 1,-1-1-1,1 0 0,0 1 0,1 0 0,-4 3 1,5-5-12,0 0 1,0-1 0,0 1 0,0 0-1,1 0 1,-1 0 0,0 0 0,1 0 0,-1 0-1,1 0 1,-1 0 0,1 0 0,0 0-1,-1 0 1,1 0 0,0 0 0,0 0 0,-1 0-1,1 0 1,0 0 0,0 0 0,0 0-1,1 1 1,-1-1 0,0 0 0,0 0 0,0 0-1,1 0 1,-1 0 0,1 0 0,-1 0-1,1 0 1,-1 0 0,1 0 0,-1 0 0,2 1-1,0-1 2,-1 0 0,1 0 0,-1 0 0,1-1 0,0 1 0,-1-1 0,1 1 0,0-1 0,-1 1-1,1-1 1,0 0 0,-1 0 0,1 0 0,0 0 0,-1 0 0,1 0 0,0 0 0,0-1 0,-1 1 0,1-1 0,0 1 0,-1-1-1,3-1 1,9-6-178,-1 0 0,0-1 0,-1 0 0,0-1-1,0 0 1,11-15 0,6-5-227,5-5-161,-19 18 178,25-21 0,-35 34 388,1 0 1,-1 1-1,1 0 0,-1 0 1,1 0-1,0 1 1,1 0-1,-1 0 0,0 0 1,11-2-1,-15 4 3,0 0 0,1-1-1,-1 1 1,1 0 0,-1 0 0,1 0-1,-1 1 1,0-1 0,1 0 0,-1 1-1,0-1 1,1 0 0,-1 1 0,0 0 0,1-1-1,-1 1 1,0 0 0,0-1 0,0 1-1,0 0 1,1 0 0,0 1 0,-1 1 6,1-1 1,-1 0 0,1 1 0,-1 0 0,0-1 0,0 1 0,0 0-1,0-1 1,0 1 0,0 4 0,0 6 59,0-1 1,-1 1-1,-3 24 0,1-26-11,1 0-1,-2 0 1,0-1-1,0 1 1,-1 0 0,0-1-1,-11 19 1,13-24-41,-1-1 0,0 0 0,-1 0 1,1 0-1,-1 0 0,1-1 0,-1 1 0,0-1 0,0 0 1,-1 0-1,1 0 0,-1-1 0,1 1 0,-1-1 0,0 0 0,0-1 1,0 1-1,0-1 0,-5 1 0,7-2-26,1 0-1,0 0 0,0 0 1,-1 0-1,1 0 1,0-1-1,0 1 0,-1-1 1,1 1-1,0-1 1,0 0-1,0 0 0,0 0 1,0 0-1,0 0 1,0 0-1,0 0 1,0-1-1,1 1 0,-1-1 1,0 0-1,1 1 1,-1-1-1,1 0 0,0 0 1,0 0-1,0 0 1,0 0-1,0 0 1,0 0-1,0 0 0,0 0 1,1-1-1,-1-3 1,-2-7-174,1-1 0,1 0 1,0 0-1,2-18 0,-1 26 142,0 1 31,0 0-1,1 1 1,0-1 0,0 1 0,0 0-1,0-1 1,1 1 0,-1 0-1,1 0 1,0-1 0,1 2-1,-1-1 1,1 0 0,-1 0-1,1 1 1,0-1 0,1 1 0,-1 0-1,0 0 1,1 0 0,0 1-1,0-1 1,0 1 0,0 0-1,0 0 1,0 0 0,0 0-1,1 1 1,-1 0 0,0 0-1,1 0 1,-1 0 0,7 1 0,-9 0 14,0 0 1,0 0-1,0 1 1,0-1-1,0 1 1,0-1-1,0 1 1,-1 0-1,1 0 1,0 0-1,0 0 1,-1 0-1,1 0 1,-1 0 0,1 0-1,-1 1 1,0-1-1,1 0 1,-1 1-1,0-1 1,0 1-1,0 0 1,0-1-1,0 1 1,0 0-1,0 0 1,-1 0-1,1-1 1,-1 1-1,1 0 1,-1 0 0,0 0-1,0 2 1,2 10 60,-1 0 0,-1 0 0,-2 23 0,1-18 15,0-8-49,1 1 29,0-1-1,-1 1 1,-1-1 0,-4 17-1,6-26-50,-1 1-1,0-1 1,0 1-1,0-1 1,0 0-1,0 1 1,-1-1-1,1 0 1,-1 0-1,0 0 1,1 0-1,-1 0 0,0-1 1,0 1-1,0 0 1,0-1-1,0 1 1,-1-1-1,1 0 1,0 0-1,-1 0 1,1 0-1,-1 0 1,1-1-1,-5 2 1,5-2-21,1 0 0,0 0 0,-1 0 0,1 0 0,-1 0 0,1 0 0,0 0 0,-1-1 1,1 1-1,-1 0 0,1-1 0,0 1 0,-1-1 0,1 1 0,0-1 0,0 0 0,0 0 0,-1 1 1,1-1-1,0 0 0,-1-1 0,0-1-25,1 1 1,-1 0-1,1-1 1,-1 1-1,1-1 0,0 1 1,0-1-1,0 0 1,1 1-1,-2-4 0,1-3-76,0 1-1,1-1 0,-1 1 1,2-1-1,-1 1 0,3-11 1,-2 14 75,0 0 0,1-1 0,0 1 0,0 0 0,0 0 0,1 0 0,0 0 0,0 1 0,0-1 0,7-7 0,-9 10 44,1 1-1,0-1 1,0 0-1,0 1 1,0-1-1,0 1 0,1-1 1,-1 1-1,0 0 1,1 0-1,-1 0 1,1 0-1,-1 1 1,1-1-1,-1 1 1,1-1-1,-1 1 0,1 0 1,-1 0-1,1 0 1,0 0-1,-1 1 1,1-1-1,4 2 1,-5-1-1,0 0 0,0 0 0,0 0 0,-1 0 0,1 1 1,0-1-1,-1 1 0,1-1 0,-1 1 0,1-1 0,-1 1 1,0 0-1,0 0 0,0 0 0,0 0 0,0 0 0,0 0 0,0 0 1,-1 0-1,1 0 0,-1 0 0,1 0 0,-1 4 0,1 7 60,0-1 0,-2 25 0,0-23-12,0 5 44,0 0 1,-1 0-1,-7 27 0,6-36-53,-1-1 1,1 0-1,-1 0 1,-1 0-1,0 0 1,0-1-1,-1 0 1,-9 11-1,10-12 3,-1-1-1,0-1 1,0 1-1,-1-1 1,-9 7-1,15-12-48,0 1-1,0-1 1,0 1 0,0-1-1,0 1 1,0-1-1,0 0 1,0 1 0,0-1-1,0 0 1,0 0 0,0 0-1,-1 0 1,1 0-1,0 0 1,0 0 0,0 0-1,0-1 1,0 1-1,-1-1 1,0 0-20,1 1 1,0-2-1,0 1 1,1 0-1,-1 0 0,0 0 1,0 0-1,0-1 0,1 1 1,-1 0-1,1-1 0,-1 1 1,1 0-1,-1-1 1,1 1-1,0 0 0,0-1 1,0 1-1,0-1 0,0-1 1,0-2-10,0 0 0,0 1 0,0-1 0,1 1 0,-1-1 0,1 1 0,1-1 0,-1 1 0,1-1 0,-1 1 0,1 0 0,0 0 0,1 0 0,-1 0 0,1 0 0,-1 1 0,1-1 0,0 1 0,1-1 1,-1 1-1,1 0 0,-1 0 0,1 1 0,0-1 0,8-3 0,-3 2 25,1-1-1,-1 0 1,0 0 0,-1-1 0,1 0 0,-1-1-1,-1 0 1,1 0 0,-1-1 0,0 0 0,7-10 0,-8 5-186,0-1 0,-2 0 0,1 0 0,3-21 1,8-25-400,-10 50 679,-4 17 18,-2 19 46,-6-5-32,-1-1 0,0 0 0,-2 0-1,0 0 1,-1-1 0,-15 21 0,24-40-124,-15 26 213,-1-1-1,-35 38 1,43-56-139,1-1 0,-1 0 0,-1 0 0,-13 6 0,12-6-13,5-3-25,-1 0-1,0 0 0,1-1 1,-1 0-1,-1 0 1,1-1-1,0 0 1,0 0-1,-1 0 1,1-1-1,-12-1 1,14 0-26,-1 0 1,1 0-1,0 0 1,-1-1 0,1 1-1,0-1 1,0-1-1,0 1 1,0-1-1,1 0 1,-1 0-1,1 0 1,-1 0 0,1-1-1,-7-8 1,7 7-112,0-1 1,0 0 0,0 0 0,1 0 0,0 0-1,0-1 1,0 1 0,-2-13 0,4 17 94,1 0 0,0 0 0,-1 1 1,1-1-1,0 0 0,0 0 0,0 1 0,1-1 0,-1 0 1,0 0-1,1 0 0,-1 1 0,1-1 0,-1 0 1,1 1-1,0-1 0,0 1 0,0-1 0,0 1 0,0-1 1,0 1-1,0-1 0,0 1 0,0 0 0,1 0 1,-1 0-1,1-1 0,-1 1 0,1 1 0,-1-1 0,1 0 1,-1 0-1,1 0 0,0 1 0,0-1 0,-1 1 1,1 0-1,0-1 0,1 1 0,14-2 72,0 0 0,21 1 0,-23 1-6,0 0 0,0-1-1,21-5 1,-22 3-52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449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generalized system that takes any raw CSV workload dataset, predicts CPU and memory usage, schedules by priority, allocates resources, and surfaces everything on a dashboard backed by AWS S3.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goal: a generalized system, not hardcoded for one dataset. Walk through the four capabilities on the right.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BE62C-61F2-C9B1-B95B-BD6E7431F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1DC76-DF20-E113-73C7-6F10F99416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6D500-E38D-2199-70E7-305A0883EF5D}"/>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CC913443-F423-1F8A-4C26-B4FE5106667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43064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nothing is tied to one dataset: columns are detected automatically, then the data is cleaned, normalized and turned into ML-ready rows.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stages from raw CSV to cloud storage. Blue = data and ML, teal = scheduling, navy = serving and cloud.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Data/ML feeds the scheduler; the FastAPI backend exposes it; React consumes it; S3 stores artifacts.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input features, two Random Forest regressors, two targets. Split is chronological, so no future data leaks into training.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E63D9-5D0F-51E3-4C91-5BD761B5A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14FDA-AF3D-F147-6486-FD69997AD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0ED269-5847-5E50-0B5E-6BE7275B1420}"/>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009045EA-4BE1-60F8-0BED-C513E58CA5E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62742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comes from predicted CPU + predicted memory. The allocator then grants resources by priority within available cluster capacity.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75DF5-475E-6CDE-9091-E3F0F8413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230044-137D-4A76-7F7D-5308301EE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2E7B3-71BA-DD8B-87F8-0FA0C04FD956}"/>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ABA13641-5F4F-6AE5-A85F-83967308D82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567634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four groups of endpoints. Optimization runs as a background job so the UI stays responsive and polls a status endpoint.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demo left to right: upload, run, watch status, then explore metrics, predictions, allocations and task status.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5B5AE-B5A4-F046-6278-2A17550F2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995AC-E542-3EE6-C2C6-73CA736FE6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16E25-7B92-09C4-B38F-F7138759BA73}"/>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E40F58AB-A7B6-F1E6-AE13-E09039D3554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74512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CB48-85CA-81CD-E2A2-C633A7D1F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8D6F0-FDB0-468A-7D81-995723DEC2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97B0A-E9D8-B1D5-76BD-CF3E252A0A0F}"/>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4BE1B630-BCA6-2273-4653-60A154612FA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32844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9192E-F7D0-B848-854B-03F129FFC3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03914-6E3B-38E6-4BE0-61BFFA3F7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2E047-110D-AF21-939C-FF89A4468B9D}"/>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E57E265A-89F2-6023-751B-691B965BD6A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47731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85FF0-C380-9E43-E5DA-8AE9F58A4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89E71-CFFC-464C-886C-02D2C7B2E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62C57-83EB-2101-483B-DB3FD9F4CC05}"/>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8E0042D6-891E-0F8A-87AB-722BF7BC10E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48600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EEDDA-7FCA-E8D0-6697-C884D1A56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6EA82-247B-0F2E-283E-FE7E5F6FC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FB846-190F-72F9-CC82-E238F4A419E6}"/>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ADBE4534-A23D-2E42-988C-C14F72A7F10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523581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231C9-5F9E-BD70-1D32-631C6ABDA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1B7CA-AD39-FE2F-CB1A-F61511B9E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79E6F-0A1F-48F4-212D-16DD41ACF9D7}"/>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E274E852-61B4-EE9E-A113-C189F6D2024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558379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dataset (about 200,240 rows). Errors are small in absolute terms; R-squared is modest, which we discuss on the limitations slide.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MAE and RMSE for both targets. Right: R-squared. Memory prediction scores somewhat better than CPU on every metric.</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complete pipeline demonstrably performs prediction, scheduling, allocation and cloud storage on a generalized CSV input.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modest R-squared. Future directions are proposed next steps, not completed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9EC0F-757E-7BB0-425A-A07756789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1A661-4E25-1509-DCAD-2FD870594E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4FD89-EABD-EAA2-567E-81E66CA400CB}"/>
              </a:ext>
            </a:extLst>
          </p:cNvPr>
          <p:cNvSpPr>
            <a:spLocks noGrp="1"/>
          </p:cNvSpPr>
          <p:nvPr>
            <p:ph type="body" idx="1"/>
          </p:nvPr>
        </p:nvSpPr>
        <p:spPr/>
        <p:txBody>
          <a:bodyPr/>
          <a:lstStyle/>
          <a:p>
            <a:r>
              <a:rPr lang="en-US" dirty="0"/>
              <a:t>Everything produced by the pipeline is stored in one S3 bucket, organised into four folders via Boto3.</a:t>
            </a:r>
          </a:p>
        </p:txBody>
      </p:sp>
      <p:sp>
        <p:nvSpPr>
          <p:cNvPr id="4" name="Slide Number Placeholder 3">
            <a:extLst>
              <a:ext uri="{FF2B5EF4-FFF2-40B4-BE49-F238E27FC236}">
                <a16:creationId xmlns:a16="http://schemas.microsoft.com/office/drawing/2014/main" id="{87163417-8658-1EAF-790B-07B3E842F426}"/>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443517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google/cluster-data"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customXml" Target="../ink/ink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5486400" cy="274320"/>
          </a:xfrm>
          <a:prstGeom prst="rect">
            <a:avLst/>
          </a:prstGeom>
          <a:noFill/>
          <a:ln/>
        </p:spPr>
        <p:txBody>
          <a:bodyPr wrap="square" lIns="0" tIns="0" rIns="0" bIns="0" rtlCol="0" anchor="t"/>
          <a:lstStyle/>
          <a:p>
            <a:pPr marL="0" indent="0">
              <a:buNone/>
            </a:pPr>
            <a:r>
              <a:rPr lang="en-US" sz="1200" b="1" kern="0" spc="300" dirty="0">
                <a:solidFill>
                  <a:srgbClr val="06B6D4"/>
                </a:solidFill>
                <a:latin typeface="Calibri" pitchFamily="34" charset="0"/>
                <a:ea typeface="Calibri" pitchFamily="34" charset="-122"/>
                <a:cs typeface="Calibri" pitchFamily="34" charset="-120"/>
              </a:rPr>
              <a:t>CLOUD COMPUTING  ·  PROJECT REVIEW</a:t>
            </a:r>
            <a:endParaRPr lang="en-US" sz="1200" dirty="0"/>
          </a:p>
        </p:txBody>
      </p:sp>
      <p:sp>
        <p:nvSpPr>
          <p:cNvPr id="3" name="Text 1"/>
          <p:cNvSpPr txBox="1"/>
          <p:nvPr/>
        </p:nvSpPr>
        <p:spPr>
          <a:xfrm>
            <a:off x="548640" y="1280160"/>
            <a:ext cx="5486400" cy="17373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Container Resource Optimization in Cloud Computing</a:t>
            </a:r>
            <a:endParaRPr lang="en-US" sz="3600" dirty="0"/>
          </a:p>
        </p:txBody>
      </p:sp>
      <p:sp>
        <p:nvSpPr>
          <p:cNvPr id="4" name="Text 2"/>
          <p:cNvSpPr txBox="1"/>
          <p:nvPr/>
        </p:nvSpPr>
        <p:spPr>
          <a:xfrm>
            <a:off x="548640" y="3200400"/>
            <a:ext cx="5120640" cy="731520"/>
          </a:xfrm>
          <a:prstGeom prst="rect">
            <a:avLst/>
          </a:prstGeom>
          <a:noFill/>
          <a:ln/>
        </p:spPr>
        <p:txBody>
          <a:bodyPr wrap="square" lIns="0" tIns="0" rIns="0" bIns="0" rtlCol="0" anchor="t"/>
          <a:lstStyle/>
          <a:p>
            <a:pPr marL="0" indent="0">
              <a:buNone/>
            </a:pPr>
            <a:r>
              <a:rPr lang="en-US" sz="1600" dirty="0">
                <a:solidFill>
                  <a:srgbClr val="CFE8F2"/>
                </a:solidFill>
                <a:latin typeface="Calibri" pitchFamily="34" charset="0"/>
                <a:ea typeface="Calibri" pitchFamily="34" charset="-122"/>
                <a:cs typeface="Calibri" pitchFamily="34" charset="-120"/>
              </a:rPr>
              <a:t>ML-driven workload prediction, priority scheduling and dynamic resource allocation</a:t>
            </a:r>
            <a:endParaRPr lang="en-US" sz="1600" dirty="0"/>
          </a:p>
        </p:txBody>
      </p:sp>
      <p:sp>
        <p:nvSpPr>
          <p:cNvPr id="5" name="Shape 3"/>
          <p:cNvSpPr/>
          <p:nvPr/>
        </p:nvSpPr>
        <p:spPr>
          <a:xfrm>
            <a:off x="6309360" y="1371600"/>
            <a:ext cx="640080" cy="640080"/>
          </a:xfrm>
          <a:prstGeom prst="roundRect">
            <a:avLst>
              <a:gd name="adj" fmla="val 11429"/>
            </a:avLst>
          </a:prstGeom>
          <a:solidFill>
            <a:srgbClr val="06B6D4"/>
          </a:solidFill>
          <a:ln w="12700">
            <a:solidFill>
              <a:srgbClr val="06B6D4"/>
            </a:solidFill>
            <a:prstDash val="solid"/>
          </a:ln>
        </p:spPr>
      </p:sp>
      <p:sp>
        <p:nvSpPr>
          <p:cNvPr id="6" name="Shape 4"/>
          <p:cNvSpPr/>
          <p:nvPr/>
        </p:nvSpPr>
        <p:spPr>
          <a:xfrm>
            <a:off x="7086600" y="1371600"/>
            <a:ext cx="640080" cy="640080"/>
          </a:xfrm>
          <a:prstGeom prst="roundRect">
            <a:avLst>
              <a:gd name="adj" fmla="val 11429"/>
            </a:avLst>
          </a:prstGeom>
          <a:solidFill>
            <a:srgbClr val="1E4A7A"/>
          </a:solidFill>
          <a:ln w="12700">
            <a:solidFill>
              <a:srgbClr val="1E4A7A"/>
            </a:solidFill>
            <a:prstDash val="solid"/>
          </a:ln>
        </p:spPr>
      </p:sp>
      <p:sp>
        <p:nvSpPr>
          <p:cNvPr id="7" name="Shape 5"/>
          <p:cNvSpPr/>
          <p:nvPr/>
        </p:nvSpPr>
        <p:spPr>
          <a:xfrm>
            <a:off x="7863840" y="1371600"/>
            <a:ext cx="640080" cy="640080"/>
          </a:xfrm>
          <a:prstGeom prst="roundRect">
            <a:avLst>
              <a:gd name="adj" fmla="val 11429"/>
            </a:avLst>
          </a:prstGeom>
          <a:solidFill>
            <a:srgbClr val="2B6CB0"/>
          </a:solidFill>
          <a:ln w="12700">
            <a:solidFill>
              <a:srgbClr val="2B6CB0"/>
            </a:solidFill>
            <a:prstDash val="solid"/>
          </a:ln>
        </p:spPr>
      </p:sp>
      <p:sp>
        <p:nvSpPr>
          <p:cNvPr id="8" name="Shape 6"/>
          <p:cNvSpPr/>
          <p:nvPr/>
        </p:nvSpPr>
        <p:spPr>
          <a:xfrm>
            <a:off x="6309360" y="2148840"/>
            <a:ext cx="640080" cy="640080"/>
          </a:xfrm>
          <a:prstGeom prst="roundRect">
            <a:avLst>
              <a:gd name="adj" fmla="val 11429"/>
            </a:avLst>
          </a:prstGeom>
          <a:solidFill>
            <a:srgbClr val="06B6D4"/>
          </a:solidFill>
          <a:ln w="12700">
            <a:solidFill>
              <a:srgbClr val="06B6D4"/>
            </a:solidFill>
            <a:prstDash val="solid"/>
          </a:ln>
        </p:spPr>
      </p:sp>
      <p:sp>
        <p:nvSpPr>
          <p:cNvPr id="9" name="Shape 7"/>
          <p:cNvSpPr/>
          <p:nvPr/>
        </p:nvSpPr>
        <p:spPr>
          <a:xfrm>
            <a:off x="7086600" y="2148840"/>
            <a:ext cx="640080" cy="640080"/>
          </a:xfrm>
          <a:prstGeom prst="roundRect">
            <a:avLst>
              <a:gd name="adj" fmla="val 11429"/>
            </a:avLst>
          </a:prstGeom>
          <a:solidFill>
            <a:srgbClr val="1E4A7A"/>
          </a:solidFill>
          <a:ln w="12700">
            <a:solidFill>
              <a:srgbClr val="1E4A7A"/>
            </a:solidFill>
            <a:prstDash val="solid"/>
          </a:ln>
        </p:spPr>
      </p:sp>
      <p:sp>
        <p:nvSpPr>
          <p:cNvPr id="10" name="Shape 8"/>
          <p:cNvSpPr/>
          <p:nvPr/>
        </p:nvSpPr>
        <p:spPr>
          <a:xfrm>
            <a:off x="7863840" y="2148840"/>
            <a:ext cx="640080" cy="640080"/>
          </a:xfrm>
          <a:prstGeom prst="roundRect">
            <a:avLst>
              <a:gd name="adj" fmla="val 11429"/>
            </a:avLst>
          </a:prstGeom>
          <a:solidFill>
            <a:srgbClr val="2B6CB0"/>
          </a:solidFill>
          <a:ln w="12700">
            <a:solidFill>
              <a:srgbClr val="2B6CB0"/>
            </a:solidFill>
            <a:prstDash val="solid"/>
          </a:ln>
        </p:spPr>
      </p:sp>
      <p:sp>
        <p:nvSpPr>
          <p:cNvPr id="11" name="Shape 9"/>
          <p:cNvSpPr/>
          <p:nvPr/>
        </p:nvSpPr>
        <p:spPr>
          <a:xfrm>
            <a:off x="6309360" y="2926080"/>
            <a:ext cx="640080" cy="640080"/>
          </a:xfrm>
          <a:prstGeom prst="roundRect">
            <a:avLst>
              <a:gd name="adj" fmla="val 11429"/>
            </a:avLst>
          </a:prstGeom>
          <a:solidFill>
            <a:srgbClr val="1E4A7A"/>
          </a:solidFill>
          <a:ln w="12700">
            <a:solidFill>
              <a:srgbClr val="1E4A7A"/>
            </a:solidFill>
            <a:prstDash val="solid"/>
          </a:ln>
        </p:spPr>
      </p:sp>
      <p:sp>
        <p:nvSpPr>
          <p:cNvPr id="12" name="Shape 10"/>
          <p:cNvSpPr/>
          <p:nvPr/>
        </p:nvSpPr>
        <p:spPr>
          <a:xfrm>
            <a:off x="7086600" y="2926080"/>
            <a:ext cx="640080" cy="640080"/>
          </a:xfrm>
          <a:prstGeom prst="roundRect">
            <a:avLst>
              <a:gd name="adj" fmla="val 11429"/>
            </a:avLst>
          </a:prstGeom>
          <a:solidFill>
            <a:srgbClr val="06B6D4"/>
          </a:solidFill>
          <a:ln w="12700">
            <a:solidFill>
              <a:srgbClr val="06B6D4"/>
            </a:solidFill>
            <a:prstDash val="solid"/>
          </a:ln>
        </p:spPr>
      </p:sp>
      <p:sp>
        <p:nvSpPr>
          <p:cNvPr id="13" name="Shape 11"/>
          <p:cNvSpPr/>
          <p:nvPr/>
        </p:nvSpPr>
        <p:spPr>
          <a:xfrm>
            <a:off x="7863840" y="2926080"/>
            <a:ext cx="640080" cy="640080"/>
          </a:xfrm>
          <a:prstGeom prst="roundRect">
            <a:avLst>
              <a:gd name="adj" fmla="val 11429"/>
            </a:avLst>
          </a:prstGeom>
          <a:solidFill>
            <a:srgbClr val="2B6CB0"/>
          </a:solidFill>
          <a:ln w="12700">
            <a:solidFill>
              <a:srgbClr val="2B6CB0"/>
            </a:solidFill>
            <a:prstDash val="solid"/>
          </a:ln>
        </p:spPr>
      </p:sp>
      <p:sp>
        <p:nvSpPr>
          <p:cNvPr id="14" name="Text 12"/>
          <p:cNvSpPr txBox="1"/>
          <p:nvPr/>
        </p:nvSpPr>
        <p:spPr>
          <a:xfrm>
            <a:off x="6309360" y="3840480"/>
            <a:ext cx="2468880" cy="457200"/>
          </a:xfrm>
          <a:prstGeom prst="rect">
            <a:avLst/>
          </a:prstGeom>
          <a:noFill/>
          <a:ln/>
        </p:spPr>
        <p:txBody>
          <a:bodyPr wrap="square" lIns="0" tIns="0" rIns="0" bIns="0" rtlCol="0" anchor="t"/>
          <a:lstStyle/>
          <a:p>
            <a:pPr marL="0" indent="0">
              <a:buNone/>
            </a:pPr>
            <a:r>
              <a:rPr lang="en-US" sz="1200" dirty="0">
                <a:solidFill>
                  <a:srgbClr val="CFE8F2"/>
                </a:solidFill>
                <a:latin typeface="Calibri" pitchFamily="34" charset="0"/>
                <a:ea typeface="Calibri" pitchFamily="34" charset="-122"/>
                <a:cs typeface="Calibri" pitchFamily="34" charset="-120"/>
              </a:rPr>
              <a:t>Priyanshi Kapoor – 24BIT0206</a:t>
            </a:r>
          </a:p>
          <a:p>
            <a:pPr marL="0" indent="0">
              <a:buNone/>
            </a:pPr>
            <a:r>
              <a:rPr lang="en-US" sz="1200" dirty="0">
                <a:solidFill>
                  <a:srgbClr val="CFE8F2"/>
                </a:solidFill>
                <a:latin typeface="Calibri" pitchFamily="34" charset="0"/>
                <a:ea typeface="Calibri" pitchFamily="34" charset="-122"/>
                <a:cs typeface="Calibri" pitchFamily="34" charset="-120"/>
              </a:rPr>
              <a:t>Pavni Arora – 24BIT0219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Problem &amp; Goal</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Shape 2"/>
          <p:cNvSpPr/>
          <p:nvPr/>
        </p:nvSpPr>
        <p:spPr>
          <a:xfrm>
            <a:off x="457200" y="1097280"/>
            <a:ext cx="4114800" cy="3474720"/>
          </a:xfrm>
          <a:prstGeom prst="roundRect">
            <a:avLst>
              <a:gd name="adj" fmla="val 2105"/>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6" name="Text 3"/>
          <p:cNvSpPr txBox="1"/>
          <p:nvPr/>
        </p:nvSpPr>
        <p:spPr>
          <a:xfrm>
            <a:off x="685800" y="1280160"/>
            <a:ext cx="3657600" cy="365760"/>
          </a:xfrm>
          <a:prstGeom prst="rect">
            <a:avLst/>
          </a:prstGeom>
          <a:noFill/>
          <a:ln/>
        </p:spPr>
        <p:txBody>
          <a:bodyPr wrap="square" lIns="0" tIns="0" rIns="0" bIns="0" rtlCol="0" anchor="t"/>
          <a:lstStyle/>
          <a:p>
            <a:pPr marL="0" indent="0">
              <a:buNone/>
            </a:pPr>
            <a:r>
              <a:rPr lang="en-US" sz="2000" b="1" dirty="0">
                <a:solidFill>
                  <a:srgbClr val="0E7490"/>
                </a:solidFill>
                <a:latin typeface="Cambria" pitchFamily="34" charset="0"/>
                <a:ea typeface="Cambria" pitchFamily="34" charset="-122"/>
                <a:cs typeface="Cambria" pitchFamily="34" charset="-120"/>
              </a:rPr>
              <a:t>Goal</a:t>
            </a:r>
            <a:endParaRPr lang="en-US" sz="2000" dirty="0"/>
          </a:p>
        </p:txBody>
      </p:sp>
      <p:sp>
        <p:nvSpPr>
          <p:cNvPr id="7" name="Text 4"/>
          <p:cNvSpPr txBox="1"/>
          <p:nvPr/>
        </p:nvSpPr>
        <p:spPr>
          <a:xfrm>
            <a:off x="685800" y="1737360"/>
            <a:ext cx="3657600" cy="274320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Build a generalized system that accepts a raw CSV workload dataset, automatically detects relevant columns, preprocesses the data, predicts future CPU and memory usage using ML, assigns workload priorities, performs dynamic resource allocation, and displays results on a web dashboard.</a:t>
            </a:r>
            <a:endParaRPr lang="en-US" sz="1400" dirty="0"/>
          </a:p>
        </p:txBody>
      </p:sp>
      <p:sp>
        <p:nvSpPr>
          <p:cNvPr id="8" name="Shape 5"/>
          <p:cNvSpPr/>
          <p:nvPr/>
        </p:nvSpPr>
        <p:spPr>
          <a:xfrm>
            <a:off x="4846320" y="1097280"/>
            <a:ext cx="3840480" cy="777240"/>
          </a:xfrm>
          <a:prstGeom prst="roundRect">
            <a:avLst>
              <a:gd name="adj" fmla="val 9412"/>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9" name="Text 6"/>
          <p:cNvSpPr txBox="1"/>
          <p:nvPr/>
        </p:nvSpPr>
        <p:spPr>
          <a:xfrm>
            <a:off x="4983480" y="128016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1</a:t>
            </a:r>
            <a:endParaRPr lang="en-US" sz="1400" dirty="0"/>
          </a:p>
        </p:txBody>
      </p:sp>
      <p:sp>
        <p:nvSpPr>
          <p:cNvPr id="10" name="Text 7"/>
          <p:cNvSpPr txBox="1"/>
          <p:nvPr/>
        </p:nvSpPr>
        <p:spPr>
          <a:xfrm>
            <a:off x="5532120" y="1207008"/>
            <a:ext cx="3017520" cy="32004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Any CSV workload dataset</a:t>
            </a:r>
            <a:endParaRPr lang="en-US" sz="1400" dirty="0"/>
          </a:p>
        </p:txBody>
      </p:sp>
      <p:sp>
        <p:nvSpPr>
          <p:cNvPr id="11" name="Text 8"/>
          <p:cNvSpPr txBox="1"/>
          <p:nvPr/>
        </p:nvSpPr>
        <p:spPr>
          <a:xfrm>
            <a:off x="5532120" y="1527048"/>
            <a:ext cx="301752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Not hardcoded for one dataset</a:t>
            </a:r>
            <a:endParaRPr lang="en-US" sz="1200" dirty="0"/>
          </a:p>
        </p:txBody>
      </p:sp>
      <p:sp>
        <p:nvSpPr>
          <p:cNvPr id="12" name="Shape 9"/>
          <p:cNvSpPr/>
          <p:nvPr/>
        </p:nvSpPr>
        <p:spPr>
          <a:xfrm>
            <a:off x="4846320" y="1984248"/>
            <a:ext cx="3840480" cy="777240"/>
          </a:xfrm>
          <a:prstGeom prst="roundRect">
            <a:avLst>
              <a:gd name="adj" fmla="val 9412"/>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3" name="Text 10"/>
          <p:cNvSpPr txBox="1"/>
          <p:nvPr/>
        </p:nvSpPr>
        <p:spPr>
          <a:xfrm>
            <a:off x="4983480" y="2167128"/>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2</a:t>
            </a:r>
            <a:endParaRPr lang="en-US" sz="1400" dirty="0"/>
          </a:p>
        </p:txBody>
      </p:sp>
      <p:sp>
        <p:nvSpPr>
          <p:cNvPr id="14" name="Text 11"/>
          <p:cNvSpPr txBox="1"/>
          <p:nvPr/>
        </p:nvSpPr>
        <p:spPr>
          <a:xfrm>
            <a:off x="5532120" y="2093976"/>
            <a:ext cx="3017520" cy="32004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Predict CPU &amp; memory</a:t>
            </a:r>
            <a:endParaRPr lang="en-US" sz="1400" dirty="0"/>
          </a:p>
        </p:txBody>
      </p:sp>
      <p:sp>
        <p:nvSpPr>
          <p:cNvPr id="15" name="Text 12"/>
          <p:cNvSpPr txBox="1"/>
          <p:nvPr/>
        </p:nvSpPr>
        <p:spPr>
          <a:xfrm>
            <a:off x="5532120" y="2414016"/>
            <a:ext cx="301752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Random Forest regression</a:t>
            </a:r>
            <a:endParaRPr lang="en-US" sz="1200" dirty="0"/>
          </a:p>
        </p:txBody>
      </p:sp>
      <p:sp>
        <p:nvSpPr>
          <p:cNvPr id="16" name="Shape 13"/>
          <p:cNvSpPr/>
          <p:nvPr/>
        </p:nvSpPr>
        <p:spPr>
          <a:xfrm>
            <a:off x="4846320" y="2871216"/>
            <a:ext cx="3840480" cy="777240"/>
          </a:xfrm>
          <a:prstGeom prst="roundRect">
            <a:avLst>
              <a:gd name="adj" fmla="val 9412"/>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7" name="Text 14"/>
          <p:cNvSpPr txBox="1"/>
          <p:nvPr/>
        </p:nvSpPr>
        <p:spPr>
          <a:xfrm>
            <a:off x="4983480" y="3054096"/>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3</a:t>
            </a:r>
            <a:endParaRPr lang="en-US" sz="1400" dirty="0"/>
          </a:p>
        </p:txBody>
      </p:sp>
      <p:sp>
        <p:nvSpPr>
          <p:cNvPr id="18" name="Text 15"/>
          <p:cNvSpPr txBox="1"/>
          <p:nvPr/>
        </p:nvSpPr>
        <p:spPr>
          <a:xfrm>
            <a:off x="5532120" y="2980944"/>
            <a:ext cx="3017520" cy="32004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Prioritize &amp; allocate</a:t>
            </a:r>
            <a:endParaRPr lang="en-US" sz="1400" dirty="0"/>
          </a:p>
        </p:txBody>
      </p:sp>
      <p:sp>
        <p:nvSpPr>
          <p:cNvPr id="19" name="Text 16"/>
          <p:cNvSpPr txBox="1"/>
          <p:nvPr/>
        </p:nvSpPr>
        <p:spPr>
          <a:xfrm>
            <a:off x="5532120" y="3300984"/>
            <a:ext cx="301752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Based on cluster capacity</a:t>
            </a:r>
            <a:endParaRPr lang="en-US" sz="1200" dirty="0"/>
          </a:p>
        </p:txBody>
      </p:sp>
      <p:sp>
        <p:nvSpPr>
          <p:cNvPr id="20" name="Shape 17"/>
          <p:cNvSpPr/>
          <p:nvPr/>
        </p:nvSpPr>
        <p:spPr>
          <a:xfrm>
            <a:off x="4846320" y="3758184"/>
            <a:ext cx="3840480" cy="777240"/>
          </a:xfrm>
          <a:prstGeom prst="roundRect">
            <a:avLst>
              <a:gd name="adj" fmla="val 9412"/>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1" name="Text 18"/>
          <p:cNvSpPr txBox="1"/>
          <p:nvPr/>
        </p:nvSpPr>
        <p:spPr>
          <a:xfrm>
            <a:off x="4983480" y="3941064"/>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4</a:t>
            </a:r>
            <a:endParaRPr lang="en-US" sz="1400" dirty="0"/>
          </a:p>
        </p:txBody>
      </p:sp>
      <p:sp>
        <p:nvSpPr>
          <p:cNvPr id="22" name="Text 19"/>
          <p:cNvSpPr txBox="1"/>
          <p:nvPr/>
        </p:nvSpPr>
        <p:spPr>
          <a:xfrm>
            <a:off x="5532120" y="3867912"/>
            <a:ext cx="3017520" cy="32004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Dashboard + cloud storage</a:t>
            </a:r>
            <a:endParaRPr lang="en-US" sz="1400" dirty="0"/>
          </a:p>
        </p:txBody>
      </p:sp>
      <p:sp>
        <p:nvSpPr>
          <p:cNvPr id="23" name="Text 20"/>
          <p:cNvSpPr txBox="1"/>
          <p:nvPr/>
        </p:nvSpPr>
        <p:spPr>
          <a:xfrm>
            <a:off x="5532120" y="4187952"/>
            <a:ext cx="301752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React UI, AWS S3</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24FC1EFB-2378-D17D-80EB-D93E0D1122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03A645-4360-9482-2109-B1813423AD8E}"/>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Link of Sample Dataset</a:t>
            </a:r>
            <a:endParaRPr lang="en-US" sz="2800" dirty="0"/>
          </a:p>
        </p:txBody>
      </p:sp>
      <p:sp>
        <p:nvSpPr>
          <p:cNvPr id="3" name="Text 1">
            <a:extLst>
              <a:ext uri="{FF2B5EF4-FFF2-40B4-BE49-F238E27FC236}">
                <a16:creationId xmlns:a16="http://schemas.microsoft.com/office/drawing/2014/main" id="{9A0A3299-9F13-2A9A-8BF2-78B0F9F7A6F2}"/>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61BACB14-1E03-7F10-0C6E-2733D166601C}"/>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defRPr>
            </a:lvl1pPr>
          </a:lstStyle>
          <a:p>
            <a:pPr algn="r"/>
            <a:fld id="{F7021451-1387-4CA6-816F-3879F97B5CBC}" type="slidenum">
              <a:rPr lang="en-US" b="0"/>
              <a:t>3</a:t>
            </a:fld>
            <a:endParaRPr lang="en-US"/>
          </a:p>
        </p:txBody>
      </p:sp>
      <p:sp>
        <p:nvSpPr>
          <p:cNvPr id="27" name="TextBox 26">
            <a:extLst>
              <a:ext uri="{FF2B5EF4-FFF2-40B4-BE49-F238E27FC236}">
                <a16:creationId xmlns:a16="http://schemas.microsoft.com/office/drawing/2014/main" id="{A0E68E13-82B2-7166-4B2F-C75B75254474}"/>
              </a:ext>
            </a:extLst>
          </p:cNvPr>
          <p:cNvSpPr txBox="1"/>
          <p:nvPr/>
        </p:nvSpPr>
        <p:spPr>
          <a:xfrm>
            <a:off x="399929" y="830149"/>
            <a:ext cx="6397558" cy="646331"/>
          </a:xfrm>
          <a:prstGeom prst="rect">
            <a:avLst/>
          </a:prstGeom>
          <a:noFill/>
        </p:spPr>
        <p:txBody>
          <a:bodyPr wrap="square">
            <a:spAutoFit/>
          </a:bodyPr>
          <a:lstStyle/>
          <a:p>
            <a:r>
              <a:rPr lang="en-IN" dirty="0">
                <a:hlinkClick r:id="rId3">
                  <a:extLst>
                    <a:ext uri="{A12FA001-AC4F-418D-AE19-62706E023703}">
                      <ahyp:hlinkClr xmlns:ahyp="http://schemas.microsoft.com/office/drawing/2018/hyperlinkcolor" val="tx"/>
                    </a:ext>
                  </a:extLst>
                </a:hlinkClick>
              </a:rPr>
              <a:t>Google Cluster Data Trace: </a:t>
            </a:r>
            <a:r>
              <a:rPr lang="en-IN" dirty="0">
                <a:solidFill>
                  <a:srgbClr val="0563C1"/>
                </a:solidFill>
                <a:hlinkClick r:id="rId3">
                  <a:extLst>
                    <a:ext uri="{A12FA001-AC4F-418D-AE19-62706E023703}">
                      <ahyp:hlinkClr xmlns:ahyp="http://schemas.microsoft.com/office/drawing/2018/hyperlinkcolor" val="tx"/>
                    </a:ext>
                  </a:extLst>
                </a:hlinkClick>
              </a:rPr>
              <a:t>https://github.com/google/cluster-data</a:t>
            </a:r>
            <a:endParaRPr lang="en-IN" dirty="0"/>
          </a:p>
          <a:p>
            <a:endParaRPr lang="en-IN" dirty="0"/>
          </a:p>
        </p:txBody>
      </p:sp>
      <p:pic>
        <p:nvPicPr>
          <p:cNvPr id="30" name="Picture 29">
            <a:extLst>
              <a:ext uri="{FF2B5EF4-FFF2-40B4-BE49-F238E27FC236}">
                <a16:creationId xmlns:a16="http://schemas.microsoft.com/office/drawing/2014/main" id="{1DFD2D40-1059-DB76-D0E2-8890B73D5A3A}"/>
              </a:ext>
            </a:extLst>
          </p:cNvPr>
          <p:cNvPicPr>
            <a:picLocks noChangeAspect="1"/>
          </p:cNvPicPr>
          <p:nvPr/>
        </p:nvPicPr>
        <p:blipFill>
          <a:blip r:embed="rId4"/>
          <a:stretch>
            <a:fillRect/>
          </a:stretch>
        </p:blipFill>
        <p:spPr>
          <a:xfrm>
            <a:off x="1887166" y="1269751"/>
            <a:ext cx="5667983" cy="3329940"/>
          </a:xfrm>
          <a:prstGeom prst="rect">
            <a:avLst/>
          </a:prstGeom>
        </p:spPr>
      </p:pic>
    </p:spTree>
    <p:extLst>
      <p:ext uri="{BB962C8B-B14F-4D97-AF65-F5344CB8AC3E}">
        <p14:creationId xmlns:p14="http://schemas.microsoft.com/office/powerpoint/2010/main" val="3644541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Data Preparation &amp; Feature Generation</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Shape 2"/>
          <p:cNvSpPr/>
          <p:nvPr/>
        </p:nvSpPr>
        <p:spPr>
          <a:xfrm>
            <a:off x="457200" y="1097280"/>
            <a:ext cx="5669280" cy="749808"/>
          </a:xfrm>
          <a:prstGeom prst="roundRect">
            <a:avLst>
              <a:gd name="adj" fmla="val 9756"/>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6" name="Text 3"/>
          <p:cNvSpPr txBox="1"/>
          <p:nvPr/>
        </p:nvSpPr>
        <p:spPr>
          <a:xfrm>
            <a:off x="594360" y="1266444"/>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1</a:t>
            </a:r>
            <a:endParaRPr lang="en-US" sz="1400" dirty="0"/>
          </a:p>
        </p:txBody>
      </p:sp>
      <p:sp>
        <p:nvSpPr>
          <p:cNvPr id="7" name="Text 4"/>
          <p:cNvSpPr txBox="1"/>
          <p:nvPr/>
        </p:nvSpPr>
        <p:spPr>
          <a:xfrm>
            <a:off x="1188720" y="1188720"/>
            <a:ext cx="4846320" cy="27432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Detect columns</a:t>
            </a:r>
            <a:endParaRPr lang="en-US" sz="1400" dirty="0"/>
          </a:p>
        </p:txBody>
      </p:sp>
      <p:sp>
        <p:nvSpPr>
          <p:cNvPr id="8" name="Text 5"/>
          <p:cNvSpPr txBox="1"/>
          <p:nvPr/>
        </p:nvSpPr>
        <p:spPr>
          <a:xfrm>
            <a:off x="1188720" y="1481328"/>
            <a:ext cx="4846320" cy="32004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Automatically identifies relevant workload columns; no dataset-specific hardcoding</a:t>
            </a:r>
            <a:endParaRPr lang="en-US" sz="1200" dirty="0"/>
          </a:p>
        </p:txBody>
      </p:sp>
      <p:sp>
        <p:nvSpPr>
          <p:cNvPr id="9" name="Shape 6"/>
          <p:cNvSpPr/>
          <p:nvPr/>
        </p:nvSpPr>
        <p:spPr>
          <a:xfrm>
            <a:off x="457200" y="1965960"/>
            <a:ext cx="5669280" cy="749808"/>
          </a:xfrm>
          <a:prstGeom prst="roundRect">
            <a:avLst>
              <a:gd name="adj" fmla="val 9756"/>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0" name="Text 7"/>
          <p:cNvSpPr txBox="1"/>
          <p:nvPr/>
        </p:nvSpPr>
        <p:spPr>
          <a:xfrm>
            <a:off x="594360" y="2135124"/>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2</a:t>
            </a:r>
            <a:endParaRPr lang="en-US" sz="1400" dirty="0"/>
          </a:p>
        </p:txBody>
      </p:sp>
      <p:sp>
        <p:nvSpPr>
          <p:cNvPr id="11" name="Text 8"/>
          <p:cNvSpPr txBox="1"/>
          <p:nvPr/>
        </p:nvSpPr>
        <p:spPr>
          <a:xfrm>
            <a:off x="1188720" y="2057400"/>
            <a:ext cx="4846320" cy="27432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Clean &amp; normalize</a:t>
            </a:r>
            <a:endParaRPr lang="en-US" sz="1400" dirty="0"/>
          </a:p>
        </p:txBody>
      </p:sp>
      <p:sp>
        <p:nvSpPr>
          <p:cNvPr id="12" name="Text 9"/>
          <p:cNvSpPr txBox="1"/>
          <p:nvPr/>
        </p:nvSpPr>
        <p:spPr>
          <a:xfrm>
            <a:off x="1188720" y="2350008"/>
            <a:ext cx="4846320" cy="32004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Prepares raw CSV values for modelling</a:t>
            </a:r>
            <a:endParaRPr lang="en-US" sz="1200" dirty="0"/>
          </a:p>
        </p:txBody>
      </p:sp>
      <p:sp>
        <p:nvSpPr>
          <p:cNvPr id="13" name="Shape 10"/>
          <p:cNvSpPr/>
          <p:nvPr/>
        </p:nvSpPr>
        <p:spPr>
          <a:xfrm>
            <a:off x="457200" y="2834640"/>
            <a:ext cx="5669280" cy="749808"/>
          </a:xfrm>
          <a:prstGeom prst="roundRect">
            <a:avLst>
              <a:gd name="adj" fmla="val 9756"/>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4" name="Text 11"/>
          <p:cNvSpPr txBox="1"/>
          <p:nvPr/>
        </p:nvSpPr>
        <p:spPr>
          <a:xfrm>
            <a:off x="594360" y="3003804"/>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3</a:t>
            </a:r>
            <a:endParaRPr lang="en-US" sz="1400" dirty="0"/>
          </a:p>
        </p:txBody>
      </p:sp>
      <p:sp>
        <p:nvSpPr>
          <p:cNvPr id="15" name="Text 12"/>
          <p:cNvSpPr txBox="1"/>
          <p:nvPr/>
        </p:nvSpPr>
        <p:spPr>
          <a:xfrm>
            <a:off x="1188720" y="2926080"/>
            <a:ext cx="4846320" cy="27432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Generate features</a:t>
            </a:r>
            <a:endParaRPr lang="en-US" sz="1400" dirty="0"/>
          </a:p>
        </p:txBody>
      </p:sp>
      <p:sp>
        <p:nvSpPr>
          <p:cNvPr id="16" name="Text 13"/>
          <p:cNvSpPr txBox="1"/>
          <p:nvPr/>
        </p:nvSpPr>
        <p:spPr>
          <a:xfrm>
            <a:off x="1188720" y="3218688"/>
            <a:ext cx="4846320" cy="32004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Previous 3 CPU and memory values, current CPU and memory, time gap</a:t>
            </a:r>
            <a:endParaRPr lang="en-US" sz="1200" dirty="0"/>
          </a:p>
        </p:txBody>
      </p:sp>
      <p:sp>
        <p:nvSpPr>
          <p:cNvPr id="17" name="Shape 14"/>
          <p:cNvSpPr/>
          <p:nvPr/>
        </p:nvSpPr>
        <p:spPr>
          <a:xfrm>
            <a:off x="457200" y="3703320"/>
            <a:ext cx="5669280" cy="749808"/>
          </a:xfrm>
          <a:prstGeom prst="roundRect">
            <a:avLst>
              <a:gd name="adj" fmla="val 9756"/>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8" name="Text 15"/>
          <p:cNvSpPr txBox="1"/>
          <p:nvPr/>
        </p:nvSpPr>
        <p:spPr>
          <a:xfrm>
            <a:off x="594360" y="3872484"/>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4</a:t>
            </a:r>
            <a:endParaRPr lang="en-US" sz="1400" dirty="0"/>
          </a:p>
        </p:txBody>
      </p:sp>
      <p:sp>
        <p:nvSpPr>
          <p:cNvPr id="19" name="Text 16"/>
          <p:cNvSpPr txBox="1"/>
          <p:nvPr/>
        </p:nvSpPr>
        <p:spPr>
          <a:xfrm>
            <a:off x="1188720" y="3794760"/>
            <a:ext cx="4846320" cy="27432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Create targets</a:t>
            </a:r>
            <a:endParaRPr lang="en-US" sz="1400" dirty="0"/>
          </a:p>
        </p:txBody>
      </p:sp>
      <p:sp>
        <p:nvSpPr>
          <p:cNvPr id="20" name="Text 17"/>
          <p:cNvSpPr txBox="1"/>
          <p:nvPr/>
        </p:nvSpPr>
        <p:spPr>
          <a:xfrm>
            <a:off x="1188720" y="4087368"/>
            <a:ext cx="4846320" cy="32004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Next CPU usage and next memory usage</a:t>
            </a:r>
            <a:endParaRPr lang="en-US" sz="1200" dirty="0"/>
          </a:p>
        </p:txBody>
      </p:sp>
      <p:sp>
        <p:nvSpPr>
          <p:cNvPr id="21" name="Shape 18"/>
          <p:cNvSpPr/>
          <p:nvPr/>
        </p:nvSpPr>
        <p:spPr>
          <a:xfrm>
            <a:off x="6400800" y="1097280"/>
            <a:ext cx="2286000" cy="3291840"/>
          </a:xfrm>
          <a:prstGeom prst="roundRect">
            <a:avLst>
              <a:gd name="adj" fmla="val 3200"/>
            </a:avLst>
          </a:prstGeom>
          <a:solidFill>
            <a:srgbClr val="0B1F3A"/>
          </a:solidFill>
          <a:ln w="12700">
            <a:solidFill>
              <a:srgbClr val="0B1F3A"/>
            </a:solidFill>
            <a:prstDash val="solid"/>
          </a:ln>
          <a:effectLst>
            <a:outerShdw blurRad="76200" dist="25400" dir="5400000" algn="bl" rotWithShape="0">
              <a:srgbClr val="0B1F3A">
                <a:alpha val="12000"/>
              </a:srgbClr>
            </a:outerShdw>
          </a:effectLst>
        </p:spPr>
      </p:sp>
      <p:sp>
        <p:nvSpPr>
          <p:cNvPr id="22" name="Text 19"/>
          <p:cNvSpPr txBox="1"/>
          <p:nvPr/>
        </p:nvSpPr>
        <p:spPr>
          <a:xfrm>
            <a:off x="6492240" y="1737360"/>
            <a:ext cx="2103120" cy="731520"/>
          </a:xfrm>
          <a:prstGeom prst="rect">
            <a:avLst/>
          </a:prstGeom>
          <a:noFill/>
          <a:ln/>
        </p:spPr>
        <p:txBody>
          <a:bodyPr wrap="square" lIns="0" tIns="0" rIns="0" bIns="0" rtlCol="0" anchor="t"/>
          <a:lstStyle/>
          <a:p>
            <a:pPr marL="0" indent="0" algn="ctr">
              <a:buNone/>
            </a:pPr>
            <a:r>
              <a:rPr lang="en-US" sz="3600" b="1" dirty="0">
                <a:solidFill>
                  <a:srgbClr val="06B6D4"/>
                </a:solidFill>
                <a:latin typeface="Cambria" pitchFamily="34" charset="0"/>
                <a:ea typeface="Cambria" pitchFamily="34" charset="-122"/>
                <a:cs typeface="Cambria" pitchFamily="34" charset="-120"/>
              </a:rPr>
              <a:t>200,240</a:t>
            </a:r>
            <a:endParaRPr lang="en-US" sz="3600" dirty="0"/>
          </a:p>
        </p:txBody>
      </p:sp>
      <p:sp>
        <p:nvSpPr>
          <p:cNvPr id="23" name="Text 20"/>
          <p:cNvSpPr txBox="1"/>
          <p:nvPr/>
        </p:nvSpPr>
        <p:spPr>
          <a:xfrm>
            <a:off x="6583680" y="2560320"/>
            <a:ext cx="1920240" cy="91440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ML-ready rows from the main dataset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End-to-End Pipeline</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Text 2"/>
          <p:cNvSpPr txBox="1"/>
          <p:nvPr/>
        </p:nvSpPr>
        <p:spPr>
          <a:xfrm>
            <a:off x="457200" y="1234440"/>
            <a:ext cx="1188720" cy="1188720"/>
          </a:xfrm>
          <a:prstGeom prst="roundRect">
            <a:avLst>
              <a:gd name="adj" fmla="val 6154"/>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1</a:t>
            </a:r>
            <a:endParaRPr lang="en-US" sz="1600" dirty="0"/>
          </a:p>
          <a:p>
            <a:pPr marL="0" indent="0" algn="ctr">
              <a:buNone/>
            </a:pPr>
            <a:r>
              <a:rPr lang="en-US" sz="1100" b="1" dirty="0">
                <a:solidFill>
                  <a:srgbClr val="FFFFFF"/>
                </a:solidFill>
              </a:rPr>
              <a:t>Raw CSV</a:t>
            </a:r>
            <a:endParaRPr lang="en-US" sz="1600" dirty="0"/>
          </a:p>
        </p:txBody>
      </p:sp>
      <p:sp>
        <p:nvSpPr>
          <p:cNvPr id="6" name="Shape 3"/>
          <p:cNvSpPr/>
          <p:nvPr/>
        </p:nvSpPr>
        <p:spPr>
          <a:xfrm>
            <a:off x="1645920" y="1828800"/>
            <a:ext cx="219456" cy="0"/>
          </a:xfrm>
          <a:prstGeom prst="line">
            <a:avLst/>
          </a:prstGeom>
          <a:noFill/>
          <a:ln w="25400">
            <a:solidFill>
              <a:srgbClr val="06B6D4"/>
            </a:solidFill>
            <a:prstDash val="solid"/>
            <a:tailEnd type="triangle"/>
          </a:ln>
        </p:spPr>
      </p:sp>
      <p:sp>
        <p:nvSpPr>
          <p:cNvPr id="7" name="Text 4"/>
          <p:cNvSpPr txBox="1"/>
          <p:nvPr/>
        </p:nvSpPr>
        <p:spPr>
          <a:xfrm>
            <a:off x="1865376" y="1234440"/>
            <a:ext cx="1188720" cy="1188720"/>
          </a:xfrm>
          <a:prstGeom prst="roundRect">
            <a:avLst>
              <a:gd name="adj" fmla="val 6154"/>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2</a:t>
            </a:r>
            <a:endParaRPr lang="en-US" sz="1600" dirty="0"/>
          </a:p>
          <a:p>
            <a:pPr marL="0" indent="0" algn="ctr">
              <a:buNone/>
            </a:pPr>
            <a:r>
              <a:rPr lang="en-US" sz="1100" b="1" dirty="0">
                <a:solidFill>
                  <a:srgbClr val="FFFFFF"/>
                </a:solidFill>
              </a:rPr>
              <a:t>Automatic Column Detection</a:t>
            </a:r>
            <a:endParaRPr lang="en-US" sz="1600" dirty="0"/>
          </a:p>
        </p:txBody>
      </p:sp>
      <p:sp>
        <p:nvSpPr>
          <p:cNvPr id="8" name="Shape 5"/>
          <p:cNvSpPr/>
          <p:nvPr/>
        </p:nvSpPr>
        <p:spPr>
          <a:xfrm>
            <a:off x="3054096" y="1828800"/>
            <a:ext cx="219456" cy="0"/>
          </a:xfrm>
          <a:prstGeom prst="line">
            <a:avLst/>
          </a:prstGeom>
          <a:noFill/>
          <a:ln w="25400">
            <a:solidFill>
              <a:srgbClr val="06B6D4"/>
            </a:solidFill>
            <a:prstDash val="solid"/>
            <a:tailEnd type="triangle"/>
          </a:ln>
        </p:spPr>
      </p:sp>
      <p:sp>
        <p:nvSpPr>
          <p:cNvPr id="9" name="Text 6"/>
          <p:cNvSpPr txBox="1"/>
          <p:nvPr/>
        </p:nvSpPr>
        <p:spPr>
          <a:xfrm>
            <a:off x="3273552" y="1234440"/>
            <a:ext cx="1188720" cy="1188720"/>
          </a:xfrm>
          <a:prstGeom prst="roundRect">
            <a:avLst>
              <a:gd name="adj" fmla="val 6154"/>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3</a:t>
            </a:r>
            <a:endParaRPr lang="en-US" sz="1600" dirty="0"/>
          </a:p>
          <a:p>
            <a:pPr marL="0" indent="0" algn="ctr">
              <a:buNone/>
            </a:pPr>
            <a:r>
              <a:rPr lang="en-US" sz="1100" b="1" dirty="0">
                <a:solidFill>
                  <a:srgbClr val="FFFFFF"/>
                </a:solidFill>
              </a:rPr>
              <a:t>Cleaning &amp; Normalization</a:t>
            </a:r>
            <a:endParaRPr lang="en-US" sz="1600" dirty="0"/>
          </a:p>
        </p:txBody>
      </p:sp>
      <p:sp>
        <p:nvSpPr>
          <p:cNvPr id="10" name="Shape 7"/>
          <p:cNvSpPr/>
          <p:nvPr/>
        </p:nvSpPr>
        <p:spPr>
          <a:xfrm>
            <a:off x="4462272" y="1828800"/>
            <a:ext cx="219456" cy="0"/>
          </a:xfrm>
          <a:prstGeom prst="line">
            <a:avLst/>
          </a:prstGeom>
          <a:noFill/>
          <a:ln w="25400">
            <a:solidFill>
              <a:srgbClr val="06B6D4"/>
            </a:solidFill>
            <a:prstDash val="solid"/>
            <a:tailEnd type="triangle"/>
          </a:ln>
        </p:spPr>
      </p:sp>
      <p:sp>
        <p:nvSpPr>
          <p:cNvPr id="11" name="Text 8"/>
          <p:cNvSpPr txBox="1"/>
          <p:nvPr/>
        </p:nvSpPr>
        <p:spPr>
          <a:xfrm>
            <a:off x="4681728" y="1234440"/>
            <a:ext cx="1188720" cy="1188720"/>
          </a:xfrm>
          <a:prstGeom prst="roundRect">
            <a:avLst>
              <a:gd name="adj" fmla="val 6154"/>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4</a:t>
            </a:r>
            <a:endParaRPr lang="en-US" sz="1600" dirty="0"/>
          </a:p>
          <a:p>
            <a:pPr marL="0" indent="0" algn="ctr">
              <a:buNone/>
            </a:pPr>
            <a:r>
              <a:rPr lang="en-US" sz="1100" b="1" dirty="0">
                <a:solidFill>
                  <a:srgbClr val="FFFFFF"/>
                </a:solidFill>
              </a:rPr>
              <a:t>Feature Generation</a:t>
            </a:r>
            <a:endParaRPr lang="en-US" sz="1600" dirty="0"/>
          </a:p>
        </p:txBody>
      </p:sp>
      <p:sp>
        <p:nvSpPr>
          <p:cNvPr id="12" name="Shape 9"/>
          <p:cNvSpPr/>
          <p:nvPr/>
        </p:nvSpPr>
        <p:spPr>
          <a:xfrm>
            <a:off x="5870448" y="1828800"/>
            <a:ext cx="219456" cy="0"/>
          </a:xfrm>
          <a:prstGeom prst="line">
            <a:avLst/>
          </a:prstGeom>
          <a:noFill/>
          <a:ln w="25400">
            <a:solidFill>
              <a:srgbClr val="06B6D4"/>
            </a:solidFill>
            <a:prstDash val="solid"/>
            <a:tailEnd type="triangle"/>
          </a:ln>
        </p:spPr>
      </p:sp>
      <p:sp>
        <p:nvSpPr>
          <p:cNvPr id="13" name="Text 10"/>
          <p:cNvSpPr txBox="1"/>
          <p:nvPr/>
        </p:nvSpPr>
        <p:spPr>
          <a:xfrm>
            <a:off x="6089904" y="1234440"/>
            <a:ext cx="1188720" cy="1188720"/>
          </a:xfrm>
          <a:prstGeom prst="roundRect">
            <a:avLst>
              <a:gd name="adj" fmla="val 6154"/>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5</a:t>
            </a:r>
            <a:endParaRPr lang="en-US" sz="1600" dirty="0"/>
          </a:p>
          <a:p>
            <a:pPr marL="0" indent="0" algn="ctr">
              <a:buNone/>
            </a:pPr>
            <a:r>
              <a:rPr lang="en-US" sz="1100" b="1" dirty="0">
                <a:solidFill>
                  <a:srgbClr val="FFFFFF"/>
                </a:solidFill>
              </a:rPr>
              <a:t>ML Training</a:t>
            </a:r>
            <a:endParaRPr lang="en-US" sz="1600" dirty="0"/>
          </a:p>
        </p:txBody>
      </p:sp>
      <p:sp>
        <p:nvSpPr>
          <p:cNvPr id="14" name="Shape 11"/>
          <p:cNvSpPr/>
          <p:nvPr/>
        </p:nvSpPr>
        <p:spPr>
          <a:xfrm>
            <a:off x="7278624" y="1828800"/>
            <a:ext cx="219456" cy="0"/>
          </a:xfrm>
          <a:prstGeom prst="line">
            <a:avLst/>
          </a:prstGeom>
          <a:noFill/>
          <a:ln w="25400">
            <a:solidFill>
              <a:srgbClr val="06B6D4"/>
            </a:solidFill>
            <a:prstDash val="solid"/>
            <a:tailEnd type="triangle"/>
          </a:ln>
        </p:spPr>
      </p:sp>
      <p:sp>
        <p:nvSpPr>
          <p:cNvPr id="15" name="Text 12"/>
          <p:cNvSpPr txBox="1"/>
          <p:nvPr/>
        </p:nvSpPr>
        <p:spPr>
          <a:xfrm>
            <a:off x="7498080" y="1234440"/>
            <a:ext cx="1188720" cy="1188720"/>
          </a:xfrm>
          <a:prstGeom prst="roundRect">
            <a:avLst>
              <a:gd name="adj" fmla="val 6154"/>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6</a:t>
            </a:r>
            <a:endParaRPr lang="en-US" sz="1600" dirty="0"/>
          </a:p>
          <a:p>
            <a:pPr marL="0" indent="0" algn="ctr">
              <a:buNone/>
            </a:pPr>
            <a:r>
              <a:rPr lang="en-US" sz="1100" b="1" dirty="0">
                <a:solidFill>
                  <a:srgbClr val="FFFFFF"/>
                </a:solidFill>
              </a:rPr>
              <a:t>CPU / Memory Prediction</a:t>
            </a:r>
            <a:endParaRPr lang="en-US" sz="1600" dirty="0"/>
          </a:p>
        </p:txBody>
      </p:sp>
      <p:sp>
        <p:nvSpPr>
          <p:cNvPr id="16" name="Text 13"/>
          <p:cNvSpPr txBox="1"/>
          <p:nvPr/>
        </p:nvSpPr>
        <p:spPr>
          <a:xfrm>
            <a:off x="1161288" y="2788920"/>
            <a:ext cx="1188720" cy="1188720"/>
          </a:xfrm>
          <a:prstGeom prst="roundRect">
            <a:avLst>
              <a:gd name="adj" fmla="val 6154"/>
            </a:avLst>
          </a:prstGeom>
          <a:solidFill>
            <a:srgbClr val="0E7490"/>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7</a:t>
            </a:r>
            <a:endParaRPr lang="en-US" sz="1600" dirty="0"/>
          </a:p>
          <a:p>
            <a:pPr marL="0" indent="0" algn="ctr">
              <a:buNone/>
            </a:pPr>
            <a:r>
              <a:rPr lang="en-US" sz="1100" b="1" dirty="0">
                <a:solidFill>
                  <a:srgbClr val="FFFFFF"/>
                </a:solidFill>
              </a:rPr>
              <a:t>Priority Assignment</a:t>
            </a:r>
            <a:endParaRPr lang="en-US" sz="1600" dirty="0"/>
          </a:p>
        </p:txBody>
      </p:sp>
      <p:sp>
        <p:nvSpPr>
          <p:cNvPr id="17" name="Shape 14"/>
          <p:cNvSpPr/>
          <p:nvPr/>
        </p:nvSpPr>
        <p:spPr>
          <a:xfrm>
            <a:off x="2350008" y="3383280"/>
            <a:ext cx="219456" cy="0"/>
          </a:xfrm>
          <a:prstGeom prst="line">
            <a:avLst/>
          </a:prstGeom>
          <a:noFill/>
          <a:ln w="25400">
            <a:solidFill>
              <a:srgbClr val="06B6D4"/>
            </a:solidFill>
            <a:prstDash val="solid"/>
            <a:tailEnd type="triangle"/>
          </a:ln>
        </p:spPr>
      </p:sp>
      <p:sp>
        <p:nvSpPr>
          <p:cNvPr id="18" name="Text 15"/>
          <p:cNvSpPr txBox="1"/>
          <p:nvPr/>
        </p:nvSpPr>
        <p:spPr>
          <a:xfrm>
            <a:off x="2569464" y="2788920"/>
            <a:ext cx="1188720" cy="1188720"/>
          </a:xfrm>
          <a:prstGeom prst="roundRect">
            <a:avLst>
              <a:gd name="adj" fmla="val 6154"/>
            </a:avLst>
          </a:prstGeom>
          <a:solidFill>
            <a:srgbClr val="0E7490"/>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8</a:t>
            </a:r>
            <a:endParaRPr lang="en-US" sz="1600" dirty="0"/>
          </a:p>
          <a:p>
            <a:pPr marL="0" indent="0" algn="ctr">
              <a:buNone/>
            </a:pPr>
            <a:r>
              <a:rPr lang="en-US" sz="1100" b="1" dirty="0">
                <a:solidFill>
                  <a:srgbClr val="FFFFFF"/>
                </a:solidFill>
              </a:rPr>
              <a:t>Time Aware, Dynamic Resource Allocation</a:t>
            </a:r>
            <a:endParaRPr lang="en-US" sz="1600" dirty="0"/>
          </a:p>
        </p:txBody>
      </p:sp>
      <p:sp>
        <p:nvSpPr>
          <p:cNvPr id="19" name="Shape 16"/>
          <p:cNvSpPr/>
          <p:nvPr/>
        </p:nvSpPr>
        <p:spPr>
          <a:xfrm>
            <a:off x="3758184" y="3383280"/>
            <a:ext cx="219456" cy="0"/>
          </a:xfrm>
          <a:prstGeom prst="line">
            <a:avLst/>
          </a:prstGeom>
          <a:noFill/>
          <a:ln w="25400">
            <a:solidFill>
              <a:srgbClr val="06B6D4"/>
            </a:solidFill>
            <a:prstDash val="solid"/>
            <a:tailEnd type="triangle"/>
          </a:ln>
        </p:spPr>
      </p:sp>
      <p:sp>
        <p:nvSpPr>
          <p:cNvPr id="20" name="Text 17"/>
          <p:cNvSpPr txBox="1"/>
          <p:nvPr/>
        </p:nvSpPr>
        <p:spPr>
          <a:xfrm>
            <a:off x="3977640" y="2788920"/>
            <a:ext cx="1188720" cy="1188720"/>
          </a:xfrm>
          <a:prstGeom prst="roundRect">
            <a:avLst>
              <a:gd name="adj" fmla="val 6154"/>
            </a:avLst>
          </a:prstGeom>
          <a:solidFill>
            <a:srgbClr val="0B1F3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9</a:t>
            </a:r>
            <a:endParaRPr lang="en-US" sz="1600" dirty="0"/>
          </a:p>
          <a:p>
            <a:pPr marL="0" indent="0" algn="ctr">
              <a:buNone/>
            </a:pPr>
            <a:r>
              <a:rPr lang="en-US" sz="1100" b="1" dirty="0">
                <a:solidFill>
                  <a:srgbClr val="FFFFFF"/>
                </a:solidFill>
              </a:rPr>
              <a:t>FastAPI Backend</a:t>
            </a:r>
            <a:endParaRPr lang="en-US" sz="1600" dirty="0"/>
          </a:p>
        </p:txBody>
      </p:sp>
      <p:sp>
        <p:nvSpPr>
          <p:cNvPr id="21" name="Shape 18"/>
          <p:cNvSpPr/>
          <p:nvPr/>
        </p:nvSpPr>
        <p:spPr>
          <a:xfrm>
            <a:off x="5166360" y="3383280"/>
            <a:ext cx="219456" cy="0"/>
          </a:xfrm>
          <a:prstGeom prst="line">
            <a:avLst/>
          </a:prstGeom>
          <a:noFill/>
          <a:ln w="25400">
            <a:solidFill>
              <a:srgbClr val="06B6D4"/>
            </a:solidFill>
            <a:prstDash val="solid"/>
            <a:tailEnd type="triangle"/>
          </a:ln>
        </p:spPr>
      </p:sp>
      <p:sp>
        <p:nvSpPr>
          <p:cNvPr id="22" name="Text 19"/>
          <p:cNvSpPr txBox="1"/>
          <p:nvPr/>
        </p:nvSpPr>
        <p:spPr>
          <a:xfrm>
            <a:off x="5385816" y="2788920"/>
            <a:ext cx="1188720" cy="1188720"/>
          </a:xfrm>
          <a:prstGeom prst="roundRect">
            <a:avLst>
              <a:gd name="adj" fmla="val 6154"/>
            </a:avLst>
          </a:prstGeom>
          <a:solidFill>
            <a:srgbClr val="0B1F3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10</a:t>
            </a:r>
            <a:endParaRPr lang="en-US" sz="1600" dirty="0"/>
          </a:p>
          <a:p>
            <a:pPr marL="0" indent="0" algn="ctr">
              <a:buNone/>
            </a:pPr>
            <a:r>
              <a:rPr lang="en-US" sz="1100" b="1" dirty="0">
                <a:solidFill>
                  <a:srgbClr val="FFFFFF"/>
                </a:solidFill>
              </a:rPr>
              <a:t>React Dashboard</a:t>
            </a:r>
            <a:endParaRPr lang="en-US" sz="1600" dirty="0"/>
          </a:p>
        </p:txBody>
      </p:sp>
      <p:sp>
        <p:nvSpPr>
          <p:cNvPr id="23" name="Shape 20"/>
          <p:cNvSpPr/>
          <p:nvPr/>
        </p:nvSpPr>
        <p:spPr>
          <a:xfrm>
            <a:off x="6574536" y="3383280"/>
            <a:ext cx="219456" cy="0"/>
          </a:xfrm>
          <a:prstGeom prst="line">
            <a:avLst/>
          </a:prstGeom>
          <a:noFill/>
          <a:ln w="25400">
            <a:solidFill>
              <a:srgbClr val="06B6D4"/>
            </a:solidFill>
            <a:prstDash val="solid"/>
            <a:tailEnd type="triangle"/>
          </a:ln>
        </p:spPr>
      </p:sp>
      <p:sp>
        <p:nvSpPr>
          <p:cNvPr id="24" name="Text 21"/>
          <p:cNvSpPr txBox="1"/>
          <p:nvPr/>
        </p:nvSpPr>
        <p:spPr>
          <a:xfrm>
            <a:off x="6793992" y="2788920"/>
            <a:ext cx="1188720" cy="1188720"/>
          </a:xfrm>
          <a:prstGeom prst="roundRect">
            <a:avLst>
              <a:gd name="adj" fmla="val 6154"/>
            </a:avLst>
          </a:prstGeom>
          <a:solidFill>
            <a:srgbClr val="0B1F3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11</a:t>
            </a:r>
            <a:endParaRPr lang="en-US" sz="1600" dirty="0"/>
          </a:p>
          <a:p>
            <a:pPr marL="0" indent="0" algn="ctr">
              <a:buNone/>
            </a:pPr>
            <a:r>
              <a:rPr lang="en-US" sz="1100" b="1" dirty="0">
                <a:solidFill>
                  <a:srgbClr val="FFFFFF"/>
                </a:solidFill>
              </a:rPr>
              <a:t>AWS S3 Storage</a:t>
            </a:r>
            <a:endParaRPr lang="en-US" sz="1600" dirty="0"/>
          </a:p>
        </p:txBody>
      </p:sp>
      <p:sp>
        <p:nvSpPr>
          <p:cNvPr id="25" name="Shape 22"/>
          <p:cNvSpPr/>
          <p:nvPr/>
        </p:nvSpPr>
        <p:spPr>
          <a:xfrm>
            <a:off x="2011680" y="4297680"/>
            <a:ext cx="228600" cy="228600"/>
          </a:xfrm>
          <a:prstGeom prst="roundRect">
            <a:avLst>
              <a:gd name="adj" fmla="val 16000"/>
            </a:avLst>
          </a:prstGeom>
          <a:solidFill>
            <a:srgbClr val="12305A"/>
          </a:solidFill>
          <a:ln w="12700">
            <a:solidFill>
              <a:srgbClr val="12305A"/>
            </a:solidFill>
            <a:prstDash val="solid"/>
          </a:ln>
        </p:spPr>
      </p:sp>
      <p:sp>
        <p:nvSpPr>
          <p:cNvPr id="26" name="Text 23"/>
          <p:cNvSpPr txBox="1"/>
          <p:nvPr/>
        </p:nvSpPr>
        <p:spPr>
          <a:xfrm>
            <a:off x="2331720" y="4297680"/>
            <a:ext cx="146304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Data &amp; ML</a:t>
            </a:r>
            <a:endParaRPr lang="en-US" sz="1200" dirty="0"/>
          </a:p>
        </p:txBody>
      </p:sp>
      <p:sp>
        <p:nvSpPr>
          <p:cNvPr id="27" name="Shape 24"/>
          <p:cNvSpPr/>
          <p:nvPr/>
        </p:nvSpPr>
        <p:spPr>
          <a:xfrm>
            <a:off x="3931920" y="4297680"/>
            <a:ext cx="228600" cy="228600"/>
          </a:xfrm>
          <a:prstGeom prst="roundRect">
            <a:avLst>
              <a:gd name="adj" fmla="val 16000"/>
            </a:avLst>
          </a:prstGeom>
          <a:solidFill>
            <a:srgbClr val="0E7490"/>
          </a:solidFill>
          <a:ln w="12700">
            <a:solidFill>
              <a:srgbClr val="0E7490"/>
            </a:solidFill>
            <a:prstDash val="solid"/>
          </a:ln>
        </p:spPr>
      </p:sp>
      <p:sp>
        <p:nvSpPr>
          <p:cNvPr id="28" name="Text 25"/>
          <p:cNvSpPr txBox="1"/>
          <p:nvPr/>
        </p:nvSpPr>
        <p:spPr>
          <a:xfrm>
            <a:off x="4251960" y="4297680"/>
            <a:ext cx="146304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Scheduling</a:t>
            </a:r>
            <a:endParaRPr lang="en-US" sz="1200" dirty="0"/>
          </a:p>
        </p:txBody>
      </p:sp>
      <p:sp>
        <p:nvSpPr>
          <p:cNvPr id="29" name="Shape 26"/>
          <p:cNvSpPr/>
          <p:nvPr/>
        </p:nvSpPr>
        <p:spPr>
          <a:xfrm>
            <a:off x="5852160" y="4297680"/>
            <a:ext cx="228600" cy="228600"/>
          </a:xfrm>
          <a:prstGeom prst="roundRect">
            <a:avLst>
              <a:gd name="adj" fmla="val 16000"/>
            </a:avLst>
          </a:prstGeom>
          <a:solidFill>
            <a:srgbClr val="0B1F3A"/>
          </a:solidFill>
          <a:ln w="12700">
            <a:solidFill>
              <a:srgbClr val="0B1F3A"/>
            </a:solidFill>
            <a:prstDash val="solid"/>
          </a:ln>
        </p:spPr>
      </p:sp>
      <p:sp>
        <p:nvSpPr>
          <p:cNvPr id="30" name="Text 27"/>
          <p:cNvSpPr txBox="1"/>
          <p:nvPr/>
        </p:nvSpPr>
        <p:spPr>
          <a:xfrm>
            <a:off x="6172200" y="4297680"/>
            <a:ext cx="146304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Serving &amp; cloud</a:t>
            </a:r>
            <a:endParaRPr lang="en-US" sz="12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System Architecture</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Shape 2"/>
          <p:cNvSpPr/>
          <p:nvPr/>
        </p:nvSpPr>
        <p:spPr>
          <a:xfrm>
            <a:off x="457200" y="1097280"/>
            <a:ext cx="1463040" cy="2697480"/>
          </a:xfrm>
          <a:prstGeom prst="roundRect">
            <a:avLst>
              <a:gd name="adj" fmla="val 5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6" name="Text 3"/>
          <p:cNvSpPr txBox="1"/>
          <p:nvPr/>
        </p:nvSpPr>
        <p:spPr>
          <a:xfrm>
            <a:off x="566928" y="1207008"/>
            <a:ext cx="1280160" cy="32004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Data &amp; ML</a:t>
            </a:r>
            <a:endParaRPr lang="en-US" sz="1400" dirty="0"/>
          </a:p>
        </p:txBody>
      </p:sp>
      <p:sp>
        <p:nvSpPr>
          <p:cNvPr id="7" name="Text 4"/>
          <p:cNvSpPr txBox="1"/>
          <p:nvPr/>
        </p:nvSpPr>
        <p:spPr>
          <a:xfrm>
            <a:off x="566928" y="1600200"/>
            <a:ext cx="128016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Column detection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Cleaning &amp; features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Random Forest: CPU, memory</a:t>
            </a:r>
            <a:endParaRPr lang="en-US" sz="1200" dirty="0"/>
          </a:p>
        </p:txBody>
      </p:sp>
      <p:sp>
        <p:nvSpPr>
          <p:cNvPr id="8" name="Shape 5"/>
          <p:cNvSpPr/>
          <p:nvPr/>
        </p:nvSpPr>
        <p:spPr>
          <a:xfrm>
            <a:off x="1920240" y="2423160"/>
            <a:ext cx="228600" cy="0"/>
          </a:xfrm>
          <a:prstGeom prst="line">
            <a:avLst/>
          </a:prstGeom>
          <a:noFill/>
          <a:ln w="25400">
            <a:solidFill>
              <a:srgbClr val="06B6D4"/>
            </a:solidFill>
            <a:prstDash val="solid"/>
            <a:tailEnd type="triangle"/>
          </a:ln>
        </p:spPr>
      </p:sp>
      <p:sp>
        <p:nvSpPr>
          <p:cNvPr id="9" name="Shape 6"/>
          <p:cNvSpPr/>
          <p:nvPr/>
        </p:nvSpPr>
        <p:spPr>
          <a:xfrm>
            <a:off x="2148840" y="1097280"/>
            <a:ext cx="1463040" cy="2697480"/>
          </a:xfrm>
          <a:prstGeom prst="roundRect">
            <a:avLst>
              <a:gd name="adj" fmla="val 5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0" name="Text 7"/>
          <p:cNvSpPr txBox="1"/>
          <p:nvPr/>
        </p:nvSpPr>
        <p:spPr>
          <a:xfrm>
            <a:off x="2258568" y="1207008"/>
            <a:ext cx="1280160" cy="32004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Scheduler</a:t>
            </a:r>
            <a:endParaRPr lang="en-US" sz="1400" dirty="0"/>
          </a:p>
        </p:txBody>
      </p:sp>
      <p:sp>
        <p:nvSpPr>
          <p:cNvPr id="11" name="Text 8"/>
          <p:cNvSpPr txBox="1"/>
          <p:nvPr/>
        </p:nvSpPr>
        <p:spPr>
          <a:xfrm>
            <a:off x="2258568" y="1600200"/>
            <a:ext cx="128016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Priority from predicted CPU + memory</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Dynamic allocator</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Cluster-capacity aware</a:t>
            </a:r>
            <a:endParaRPr lang="en-US" sz="1200" dirty="0"/>
          </a:p>
        </p:txBody>
      </p:sp>
      <p:sp>
        <p:nvSpPr>
          <p:cNvPr id="12" name="Shape 9"/>
          <p:cNvSpPr/>
          <p:nvPr/>
        </p:nvSpPr>
        <p:spPr>
          <a:xfrm>
            <a:off x="3611880" y="2423160"/>
            <a:ext cx="228600" cy="0"/>
          </a:xfrm>
          <a:prstGeom prst="line">
            <a:avLst/>
          </a:prstGeom>
          <a:noFill/>
          <a:ln w="25400">
            <a:solidFill>
              <a:srgbClr val="06B6D4"/>
            </a:solidFill>
            <a:prstDash val="solid"/>
            <a:tailEnd type="triangle"/>
          </a:ln>
        </p:spPr>
      </p:sp>
      <p:sp>
        <p:nvSpPr>
          <p:cNvPr id="13" name="Shape 10"/>
          <p:cNvSpPr/>
          <p:nvPr/>
        </p:nvSpPr>
        <p:spPr>
          <a:xfrm>
            <a:off x="3840480" y="1097280"/>
            <a:ext cx="1463040" cy="2697480"/>
          </a:xfrm>
          <a:prstGeom prst="roundRect">
            <a:avLst>
              <a:gd name="adj" fmla="val 5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4" name="Text 11"/>
          <p:cNvSpPr txBox="1"/>
          <p:nvPr/>
        </p:nvSpPr>
        <p:spPr>
          <a:xfrm>
            <a:off x="3950208" y="1207008"/>
            <a:ext cx="1280160" cy="32004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Backend</a:t>
            </a:r>
            <a:endParaRPr lang="en-US" sz="1400" dirty="0"/>
          </a:p>
        </p:txBody>
      </p:sp>
      <p:sp>
        <p:nvSpPr>
          <p:cNvPr id="15" name="Text 12"/>
          <p:cNvSpPr txBox="1"/>
          <p:nvPr/>
        </p:nvSpPr>
        <p:spPr>
          <a:xfrm>
            <a:off x="3950208" y="1600200"/>
            <a:ext cx="128016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FastAPI</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Metrics, predictions, allocations, upload</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Background jobs + status</a:t>
            </a:r>
            <a:endParaRPr lang="en-US" sz="1200" dirty="0"/>
          </a:p>
        </p:txBody>
      </p:sp>
      <p:sp>
        <p:nvSpPr>
          <p:cNvPr id="16" name="Shape 13"/>
          <p:cNvSpPr/>
          <p:nvPr/>
        </p:nvSpPr>
        <p:spPr>
          <a:xfrm>
            <a:off x="5303520" y="2423160"/>
            <a:ext cx="228600" cy="0"/>
          </a:xfrm>
          <a:prstGeom prst="line">
            <a:avLst/>
          </a:prstGeom>
          <a:noFill/>
          <a:ln w="25400">
            <a:solidFill>
              <a:srgbClr val="06B6D4"/>
            </a:solidFill>
            <a:prstDash val="solid"/>
            <a:tailEnd type="triangle"/>
          </a:ln>
        </p:spPr>
      </p:sp>
      <p:sp>
        <p:nvSpPr>
          <p:cNvPr id="17" name="Shape 14"/>
          <p:cNvSpPr/>
          <p:nvPr/>
        </p:nvSpPr>
        <p:spPr>
          <a:xfrm>
            <a:off x="5532120" y="1097280"/>
            <a:ext cx="1463040" cy="2697480"/>
          </a:xfrm>
          <a:prstGeom prst="roundRect">
            <a:avLst>
              <a:gd name="adj" fmla="val 5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8" name="Text 15"/>
          <p:cNvSpPr txBox="1"/>
          <p:nvPr/>
        </p:nvSpPr>
        <p:spPr>
          <a:xfrm>
            <a:off x="5641848" y="1207008"/>
            <a:ext cx="1280160" cy="32004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Frontend</a:t>
            </a:r>
            <a:endParaRPr lang="en-US" sz="1400" dirty="0"/>
          </a:p>
        </p:txBody>
      </p:sp>
      <p:sp>
        <p:nvSpPr>
          <p:cNvPr id="19" name="Text 16"/>
          <p:cNvSpPr txBox="1"/>
          <p:nvPr/>
        </p:nvSpPr>
        <p:spPr>
          <a:xfrm>
            <a:off x="5641848" y="1600200"/>
            <a:ext cx="128016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React + Vite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Axios API calls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Recharts charts</a:t>
            </a:r>
            <a:endParaRPr lang="en-US" sz="1200" dirty="0"/>
          </a:p>
        </p:txBody>
      </p:sp>
      <p:sp>
        <p:nvSpPr>
          <p:cNvPr id="20" name="Shape 17"/>
          <p:cNvSpPr/>
          <p:nvPr/>
        </p:nvSpPr>
        <p:spPr>
          <a:xfrm>
            <a:off x="6995160" y="2423160"/>
            <a:ext cx="228600" cy="0"/>
          </a:xfrm>
          <a:prstGeom prst="line">
            <a:avLst/>
          </a:prstGeom>
          <a:noFill/>
          <a:ln w="25400">
            <a:solidFill>
              <a:srgbClr val="06B6D4"/>
            </a:solidFill>
            <a:prstDash val="solid"/>
            <a:tailEnd type="triangle"/>
          </a:ln>
        </p:spPr>
      </p:sp>
      <p:sp>
        <p:nvSpPr>
          <p:cNvPr id="21" name="Shape 18"/>
          <p:cNvSpPr/>
          <p:nvPr/>
        </p:nvSpPr>
        <p:spPr>
          <a:xfrm>
            <a:off x="7223760" y="1097280"/>
            <a:ext cx="1463040" cy="2697480"/>
          </a:xfrm>
          <a:prstGeom prst="roundRect">
            <a:avLst>
              <a:gd name="adj" fmla="val 5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2" name="Text 19"/>
          <p:cNvSpPr txBox="1"/>
          <p:nvPr/>
        </p:nvSpPr>
        <p:spPr>
          <a:xfrm>
            <a:off x="7333488" y="1207008"/>
            <a:ext cx="1280160" cy="32004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Cloud</a:t>
            </a:r>
            <a:endParaRPr lang="en-US" sz="1400" dirty="0"/>
          </a:p>
        </p:txBody>
      </p:sp>
      <p:sp>
        <p:nvSpPr>
          <p:cNvPr id="23" name="Text 20"/>
          <p:cNvSpPr txBox="1"/>
          <p:nvPr/>
        </p:nvSpPr>
        <p:spPr>
          <a:xfrm>
            <a:off x="7333488" y="1600200"/>
            <a:ext cx="128016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AWS S3 via Boto3</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processed/ predictions/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allocations/ models/</a:t>
            </a:r>
            <a:endParaRPr lang="en-US" sz="1200" dirty="0"/>
          </a:p>
        </p:txBody>
      </p:sp>
      <p:sp>
        <p:nvSpPr>
          <p:cNvPr id="24" name="Text 21"/>
          <p:cNvSpPr txBox="1"/>
          <p:nvPr/>
        </p:nvSpPr>
        <p:spPr>
          <a:xfrm>
            <a:off x="457200" y="3977640"/>
            <a:ext cx="832104"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Python</a:t>
            </a:r>
            <a:endParaRPr lang="en-US" sz="1100" dirty="0"/>
          </a:p>
        </p:txBody>
      </p:sp>
      <p:sp>
        <p:nvSpPr>
          <p:cNvPr id="25" name="Text 22"/>
          <p:cNvSpPr txBox="1"/>
          <p:nvPr/>
        </p:nvSpPr>
        <p:spPr>
          <a:xfrm>
            <a:off x="1399032" y="3977640"/>
            <a:ext cx="832104"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Pandas</a:t>
            </a:r>
            <a:endParaRPr lang="en-US" sz="1100" dirty="0"/>
          </a:p>
        </p:txBody>
      </p:sp>
      <p:sp>
        <p:nvSpPr>
          <p:cNvPr id="26" name="Text 23"/>
          <p:cNvSpPr txBox="1"/>
          <p:nvPr/>
        </p:nvSpPr>
        <p:spPr>
          <a:xfrm>
            <a:off x="2340864" y="3977640"/>
            <a:ext cx="1298448"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Scikit-learn</a:t>
            </a:r>
            <a:endParaRPr lang="en-US" sz="1100" dirty="0"/>
          </a:p>
        </p:txBody>
      </p:sp>
      <p:sp>
        <p:nvSpPr>
          <p:cNvPr id="27" name="Text 24"/>
          <p:cNvSpPr txBox="1"/>
          <p:nvPr/>
        </p:nvSpPr>
        <p:spPr>
          <a:xfrm>
            <a:off x="3749040" y="3977640"/>
            <a:ext cx="909828"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FastAPI</a:t>
            </a:r>
            <a:endParaRPr lang="en-US" sz="1100" dirty="0"/>
          </a:p>
        </p:txBody>
      </p:sp>
      <p:sp>
        <p:nvSpPr>
          <p:cNvPr id="28" name="Text 25"/>
          <p:cNvSpPr txBox="1"/>
          <p:nvPr/>
        </p:nvSpPr>
        <p:spPr>
          <a:xfrm>
            <a:off x="4768596" y="3977640"/>
            <a:ext cx="754380"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React</a:t>
            </a:r>
            <a:endParaRPr lang="en-US" sz="1100" dirty="0"/>
          </a:p>
        </p:txBody>
      </p:sp>
      <p:sp>
        <p:nvSpPr>
          <p:cNvPr id="29" name="Text 26"/>
          <p:cNvSpPr txBox="1"/>
          <p:nvPr/>
        </p:nvSpPr>
        <p:spPr>
          <a:xfrm>
            <a:off x="5632704" y="3977640"/>
            <a:ext cx="676656"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Vite</a:t>
            </a:r>
            <a:endParaRPr lang="en-US" sz="1100" dirty="0"/>
          </a:p>
        </p:txBody>
      </p:sp>
      <p:sp>
        <p:nvSpPr>
          <p:cNvPr id="30" name="Text 27"/>
          <p:cNvSpPr txBox="1"/>
          <p:nvPr/>
        </p:nvSpPr>
        <p:spPr>
          <a:xfrm>
            <a:off x="457200" y="4343400"/>
            <a:ext cx="754380"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Axios</a:t>
            </a:r>
            <a:endParaRPr lang="en-US" sz="1100" dirty="0"/>
          </a:p>
        </p:txBody>
      </p:sp>
      <p:sp>
        <p:nvSpPr>
          <p:cNvPr id="31" name="Text 28"/>
          <p:cNvSpPr txBox="1"/>
          <p:nvPr/>
        </p:nvSpPr>
        <p:spPr>
          <a:xfrm>
            <a:off x="1321308" y="4343400"/>
            <a:ext cx="987552"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Recharts</a:t>
            </a:r>
            <a:endParaRPr lang="en-US" sz="1100" dirty="0"/>
          </a:p>
        </p:txBody>
      </p:sp>
      <p:sp>
        <p:nvSpPr>
          <p:cNvPr id="32" name="Text 29"/>
          <p:cNvSpPr txBox="1"/>
          <p:nvPr/>
        </p:nvSpPr>
        <p:spPr>
          <a:xfrm>
            <a:off x="2418588" y="4343400"/>
            <a:ext cx="832104"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AWS S3</a:t>
            </a:r>
            <a:endParaRPr lang="en-US" sz="1100" dirty="0"/>
          </a:p>
        </p:txBody>
      </p:sp>
      <p:sp>
        <p:nvSpPr>
          <p:cNvPr id="33" name="Text 30"/>
          <p:cNvSpPr txBox="1"/>
          <p:nvPr/>
        </p:nvSpPr>
        <p:spPr>
          <a:xfrm>
            <a:off x="3360420" y="4343400"/>
            <a:ext cx="754380"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Boto3</a:t>
            </a:r>
            <a:endParaRPr lang="en-US" sz="1100" dirty="0"/>
          </a:p>
        </p:txBody>
      </p:sp>
      <p:sp>
        <p:nvSpPr>
          <p:cNvPr id="34" name="Text 31"/>
          <p:cNvSpPr txBox="1"/>
          <p:nvPr/>
        </p:nvSpPr>
        <p:spPr>
          <a:xfrm>
            <a:off x="4224528" y="4343400"/>
            <a:ext cx="1143000" cy="292608"/>
          </a:xfrm>
          <a:prstGeom prst="roundRect">
            <a:avLst>
              <a:gd name="adj" fmla="val 25000"/>
            </a:avLst>
          </a:prstGeom>
          <a:solidFill>
            <a:srgbClr val="12305A"/>
          </a:solidFill>
          <a:ln/>
        </p:spPr>
        <p:txBody>
          <a:bodyPr wrap="square" lIns="635" tIns="635" rIns="635" bIns="635"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Git/GitHub</a:t>
            </a:r>
            <a:endParaRPr lang="en-US" sz="11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Machine Learning Pipeline</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Shape 2"/>
          <p:cNvSpPr/>
          <p:nvPr/>
        </p:nvSpPr>
        <p:spPr>
          <a:xfrm>
            <a:off x="457200" y="1097280"/>
            <a:ext cx="2377440" cy="2148840"/>
          </a:xfrm>
          <a:prstGeom prst="roundRect">
            <a:avLst>
              <a:gd name="adj" fmla="val 3404"/>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6" name="Text 3"/>
          <p:cNvSpPr txBox="1"/>
          <p:nvPr/>
        </p:nvSpPr>
        <p:spPr>
          <a:xfrm>
            <a:off x="621792" y="1207008"/>
            <a:ext cx="2103120" cy="32004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Inputs: 9 features</a:t>
            </a:r>
            <a:endParaRPr lang="en-US" sz="1400" dirty="0"/>
          </a:p>
        </p:txBody>
      </p:sp>
      <p:sp>
        <p:nvSpPr>
          <p:cNvPr id="7" name="Text 4"/>
          <p:cNvSpPr txBox="1"/>
          <p:nvPr/>
        </p:nvSpPr>
        <p:spPr>
          <a:xfrm>
            <a:off x="621792" y="1645920"/>
            <a:ext cx="210312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Previous 3 CPU values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Previous 3 memory values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Current CPU</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Current memory</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Time gap</a:t>
            </a:r>
            <a:endParaRPr lang="en-US" sz="1300" dirty="0"/>
          </a:p>
        </p:txBody>
      </p:sp>
      <p:sp>
        <p:nvSpPr>
          <p:cNvPr id="8" name="Shape 5"/>
          <p:cNvSpPr/>
          <p:nvPr/>
        </p:nvSpPr>
        <p:spPr>
          <a:xfrm>
            <a:off x="2834640" y="2194560"/>
            <a:ext cx="548640" cy="0"/>
          </a:xfrm>
          <a:prstGeom prst="line">
            <a:avLst/>
          </a:prstGeom>
          <a:noFill/>
          <a:ln w="25400">
            <a:solidFill>
              <a:srgbClr val="06B6D4"/>
            </a:solidFill>
            <a:prstDash val="solid"/>
            <a:tailEnd type="triangle"/>
          </a:ln>
        </p:spPr>
      </p:sp>
      <p:sp>
        <p:nvSpPr>
          <p:cNvPr id="9" name="Shape 6"/>
          <p:cNvSpPr/>
          <p:nvPr/>
        </p:nvSpPr>
        <p:spPr>
          <a:xfrm>
            <a:off x="3383280" y="1097280"/>
            <a:ext cx="2377440" cy="2148840"/>
          </a:xfrm>
          <a:prstGeom prst="roundRect">
            <a:avLst>
              <a:gd name="adj" fmla="val 3404"/>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0" name="Text 7"/>
          <p:cNvSpPr txBox="1"/>
          <p:nvPr/>
        </p:nvSpPr>
        <p:spPr>
          <a:xfrm>
            <a:off x="3547872" y="1207008"/>
            <a:ext cx="2103120" cy="32004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Random Forest Regression</a:t>
            </a:r>
            <a:endParaRPr lang="en-US" sz="1400" dirty="0"/>
          </a:p>
        </p:txBody>
      </p:sp>
      <p:sp>
        <p:nvSpPr>
          <p:cNvPr id="11" name="Text 8"/>
          <p:cNvSpPr txBox="1"/>
          <p:nvPr/>
        </p:nvSpPr>
        <p:spPr>
          <a:xfrm>
            <a:off x="3547872" y="1645920"/>
            <a:ext cx="210312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Two models: CPU and memory</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Python · Pandas · Scikit-learn</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Saved as .pkl files</a:t>
            </a:r>
            <a:endParaRPr lang="en-US" sz="1300" dirty="0"/>
          </a:p>
        </p:txBody>
      </p:sp>
      <p:sp>
        <p:nvSpPr>
          <p:cNvPr id="12" name="Shape 9"/>
          <p:cNvSpPr/>
          <p:nvPr/>
        </p:nvSpPr>
        <p:spPr>
          <a:xfrm>
            <a:off x="5760720" y="2194560"/>
            <a:ext cx="548640" cy="0"/>
          </a:xfrm>
          <a:prstGeom prst="line">
            <a:avLst/>
          </a:prstGeom>
          <a:noFill/>
          <a:ln w="25400">
            <a:solidFill>
              <a:srgbClr val="06B6D4"/>
            </a:solidFill>
            <a:prstDash val="solid"/>
            <a:tailEnd type="triangle"/>
          </a:ln>
        </p:spPr>
      </p:sp>
      <p:sp>
        <p:nvSpPr>
          <p:cNvPr id="13" name="Shape 10"/>
          <p:cNvSpPr/>
          <p:nvPr/>
        </p:nvSpPr>
        <p:spPr>
          <a:xfrm>
            <a:off x="6309360" y="1097280"/>
            <a:ext cx="2377440" cy="2148840"/>
          </a:xfrm>
          <a:prstGeom prst="roundRect">
            <a:avLst>
              <a:gd name="adj" fmla="val 3404"/>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4" name="Text 11"/>
          <p:cNvSpPr txBox="1"/>
          <p:nvPr/>
        </p:nvSpPr>
        <p:spPr>
          <a:xfrm>
            <a:off x="6473952" y="1207008"/>
            <a:ext cx="2103120" cy="32004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Targets: 2 outputs</a:t>
            </a:r>
            <a:endParaRPr lang="en-US" sz="1400" dirty="0"/>
          </a:p>
        </p:txBody>
      </p:sp>
      <p:sp>
        <p:nvSpPr>
          <p:cNvPr id="15" name="Text 12"/>
          <p:cNvSpPr txBox="1"/>
          <p:nvPr/>
        </p:nvSpPr>
        <p:spPr>
          <a:xfrm>
            <a:off x="6473952" y="1645920"/>
            <a:ext cx="210312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Next CPU usage</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Next memory usage</a:t>
            </a:r>
            <a:endParaRPr lang="en-US" sz="1300" dirty="0"/>
          </a:p>
        </p:txBody>
      </p:sp>
      <p:sp>
        <p:nvSpPr>
          <p:cNvPr id="16" name="Text 13"/>
          <p:cNvSpPr txBox="1"/>
          <p:nvPr/>
        </p:nvSpPr>
        <p:spPr>
          <a:xfrm>
            <a:off x="457200" y="3474720"/>
            <a:ext cx="3657600" cy="27432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Chronological split</a:t>
            </a:r>
            <a:endParaRPr lang="en-US" sz="1400" dirty="0"/>
          </a:p>
        </p:txBody>
      </p:sp>
      <p:sp>
        <p:nvSpPr>
          <p:cNvPr id="17" name="Text 14"/>
          <p:cNvSpPr txBox="1"/>
          <p:nvPr/>
        </p:nvSpPr>
        <p:spPr>
          <a:xfrm>
            <a:off x="457200" y="3794760"/>
            <a:ext cx="6583680" cy="502920"/>
          </a:xfrm>
          <a:prstGeom prst="roundRect">
            <a:avLst>
              <a:gd name="adj" fmla="val 14545"/>
            </a:avLst>
          </a:prstGeom>
          <a:solidFill>
            <a:srgbClr val="0B1F3A"/>
          </a:solidFill>
          <a:ln/>
        </p:spPr>
        <p:txBody>
          <a:bodyPr wrap="square" lIns="635" tIns="635" rIns="635" bIns="635"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80% Training (Early timeline)</a:t>
            </a:r>
            <a:endParaRPr lang="en-US" sz="1400" dirty="0"/>
          </a:p>
        </p:txBody>
      </p:sp>
      <p:sp>
        <p:nvSpPr>
          <p:cNvPr id="18" name="Text 15"/>
          <p:cNvSpPr txBox="1"/>
          <p:nvPr/>
        </p:nvSpPr>
        <p:spPr>
          <a:xfrm>
            <a:off x="7040880" y="3794760"/>
            <a:ext cx="1645920" cy="502920"/>
          </a:xfrm>
          <a:prstGeom prst="roundRect">
            <a:avLst>
              <a:gd name="adj" fmla="val 14545"/>
            </a:avLst>
          </a:prstGeom>
          <a:solidFill>
            <a:srgbClr val="06B6D4"/>
          </a:solidFill>
          <a:ln/>
        </p:spPr>
        <p:txBody>
          <a:bodyPr wrap="square" lIns="635" tIns="635" rIns="635" bIns="635"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20% Testing </a:t>
            </a:r>
          </a:p>
          <a:p>
            <a:pPr marL="0" indent="0" algn="ctr">
              <a:buNone/>
            </a:pPr>
            <a:r>
              <a:rPr lang="en-US" sz="1400" b="1" dirty="0">
                <a:solidFill>
                  <a:srgbClr val="0B1F3A"/>
                </a:solidFill>
                <a:latin typeface="Calibri" pitchFamily="34" charset="0"/>
                <a:ea typeface="Calibri" pitchFamily="34" charset="-122"/>
                <a:cs typeface="Calibri" pitchFamily="34" charset="-120"/>
              </a:rPr>
              <a:t>(Later timeline)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C8AFEF6E-3CA1-8B60-A078-5AE89FBBA70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10407B-1D5C-EEF5-37D5-AE2CDD42CE39}"/>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Why Random Forest Regression?</a:t>
            </a:r>
            <a:endParaRPr lang="en-US" sz="2800" dirty="0"/>
          </a:p>
        </p:txBody>
      </p:sp>
      <p:sp>
        <p:nvSpPr>
          <p:cNvPr id="3" name="Text 1">
            <a:extLst>
              <a:ext uri="{FF2B5EF4-FFF2-40B4-BE49-F238E27FC236}">
                <a16:creationId xmlns:a16="http://schemas.microsoft.com/office/drawing/2014/main" id="{608718D1-BDE5-2AB1-E186-A89332BD9747}"/>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E4A50546-3311-C475-9ED1-7D7B2BAE13C9}"/>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defRPr>
            </a:lvl1pPr>
          </a:lstStyle>
          <a:p>
            <a:pPr algn="r"/>
            <a:fld id="{F7021451-1387-4CA6-816F-3879F97B5CBC}" type="slidenum">
              <a:rPr lang="en-US" b="0"/>
              <a:t>8</a:t>
            </a:fld>
            <a:endParaRPr lang="en-US"/>
          </a:p>
        </p:txBody>
      </p:sp>
      <p:sp>
        <p:nvSpPr>
          <p:cNvPr id="28" name="TextBox 27">
            <a:extLst>
              <a:ext uri="{FF2B5EF4-FFF2-40B4-BE49-F238E27FC236}">
                <a16:creationId xmlns:a16="http://schemas.microsoft.com/office/drawing/2014/main" id="{8F33B33A-F575-8E3E-9C7C-4CB1290B8FE2}"/>
              </a:ext>
            </a:extLst>
          </p:cNvPr>
          <p:cNvSpPr txBox="1"/>
          <p:nvPr/>
        </p:nvSpPr>
        <p:spPr>
          <a:xfrm>
            <a:off x="405320" y="1749231"/>
            <a:ext cx="184731" cy="646331"/>
          </a:xfrm>
          <a:prstGeom prst="rect">
            <a:avLst/>
          </a:prstGeom>
          <a:noFill/>
        </p:spPr>
        <p:txBody>
          <a:bodyPr wrap="none" rtlCol="0">
            <a:spAutoFit/>
          </a:bodyPr>
          <a:lstStyle/>
          <a:p>
            <a:endParaRPr lang="en-IN" dirty="0"/>
          </a:p>
          <a:p>
            <a:endParaRPr lang="en-IN" dirty="0"/>
          </a:p>
        </p:txBody>
      </p:sp>
      <p:sp>
        <p:nvSpPr>
          <p:cNvPr id="8" name="Text 4">
            <a:extLst>
              <a:ext uri="{FF2B5EF4-FFF2-40B4-BE49-F238E27FC236}">
                <a16:creationId xmlns:a16="http://schemas.microsoft.com/office/drawing/2014/main" id="{8ADC3418-5FB8-5EE2-C219-12CD6E3CA336}"/>
              </a:ext>
            </a:extLst>
          </p:cNvPr>
          <p:cNvSpPr txBox="1"/>
          <p:nvPr/>
        </p:nvSpPr>
        <p:spPr>
          <a:xfrm>
            <a:off x="509081" y="1485900"/>
            <a:ext cx="8229599" cy="2743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Our problem is a supervised regression problem where we need to predict continuous values — the next CPU usage and next memory usage. </a:t>
            </a:r>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Our input consists of multiple tabular features such as the previous three CPU values, previous three memory values, current CPU and memory usage, and the time gap. Random Forest is well suited for this type of tabular data because it can capture nonlinear relationships between these features and the resource usage without requiring us to assume a specific mathematical relationship.</a:t>
            </a:r>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It is also relatively robust to noise and provides a strong baseline model. </a:t>
            </a:r>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Since we needed two continuous predictions, we trained two Random Forest Regressors — one for CPU and one for memory.</a:t>
            </a:r>
          </a:p>
          <a:p>
            <a:pPr marL="342900" indent="-342900">
              <a:spcAft>
                <a:spcPts val="400"/>
              </a:spcAft>
              <a:buSzPct val="100000"/>
              <a:buChar char="•"/>
            </a:pPr>
            <a:r>
              <a:rPr lang="en-US" sz="1400" b="1" dirty="0">
                <a:solidFill>
                  <a:srgbClr val="1E293B"/>
                </a:solidFill>
                <a:latin typeface="Calibri" pitchFamily="34" charset="0"/>
                <a:ea typeface="Calibri" pitchFamily="34" charset="-122"/>
                <a:cs typeface="Calibri" pitchFamily="34" charset="-120"/>
              </a:rPr>
              <a:t>We chose it as our initial model rather than claiming it is universally the best model. Comparing it with other regression or time-series models and tuning it further is part of our future scope.</a:t>
            </a:r>
            <a:endParaRPr lang="en-US" sz="1400" b="1" dirty="0"/>
          </a:p>
        </p:txBody>
      </p:sp>
    </p:spTree>
    <p:extLst>
      <p:ext uri="{BB962C8B-B14F-4D97-AF65-F5344CB8AC3E}">
        <p14:creationId xmlns:p14="http://schemas.microsoft.com/office/powerpoint/2010/main" val="693039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Priority Scheduler &amp; Dynamic Allocator</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Text 2"/>
          <p:cNvSpPr txBox="1"/>
          <p:nvPr/>
        </p:nvSpPr>
        <p:spPr>
          <a:xfrm>
            <a:off x="62179" y="1092708"/>
            <a:ext cx="1576426" cy="690372"/>
          </a:xfrm>
          <a:prstGeom prst="roundRect">
            <a:avLst>
              <a:gd name="adj" fmla="val 8421"/>
            </a:avLst>
          </a:prstGeom>
          <a:solidFill>
            <a:srgbClr val="12305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Predicted CPU + Memory</a:t>
            </a:r>
            <a:endParaRPr lang="en-US" sz="1300" dirty="0"/>
          </a:p>
        </p:txBody>
      </p:sp>
      <p:sp>
        <p:nvSpPr>
          <p:cNvPr id="6" name="Shape 3"/>
          <p:cNvSpPr/>
          <p:nvPr/>
        </p:nvSpPr>
        <p:spPr>
          <a:xfrm>
            <a:off x="1638605" y="1446124"/>
            <a:ext cx="260110" cy="0"/>
          </a:xfrm>
          <a:prstGeom prst="line">
            <a:avLst/>
          </a:prstGeom>
          <a:noFill/>
          <a:ln w="25400">
            <a:solidFill>
              <a:srgbClr val="06B6D4"/>
            </a:solidFill>
            <a:prstDash val="solid"/>
            <a:tailEnd type="triangle"/>
          </a:ln>
        </p:spPr>
      </p:sp>
      <p:sp>
        <p:nvSpPr>
          <p:cNvPr id="7" name="Text 4"/>
          <p:cNvSpPr txBox="1"/>
          <p:nvPr/>
        </p:nvSpPr>
        <p:spPr>
          <a:xfrm>
            <a:off x="1884273" y="1092708"/>
            <a:ext cx="1576426" cy="690372"/>
          </a:xfrm>
          <a:prstGeom prst="roundRect">
            <a:avLst>
              <a:gd name="adj" fmla="val 8421"/>
            </a:avLst>
          </a:prstGeom>
          <a:solidFill>
            <a:srgbClr val="12305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Priority Assignment</a:t>
            </a:r>
            <a:endParaRPr lang="en-US" sz="1300" dirty="0"/>
          </a:p>
        </p:txBody>
      </p:sp>
      <p:sp>
        <p:nvSpPr>
          <p:cNvPr id="8" name="Shape 5"/>
          <p:cNvSpPr/>
          <p:nvPr/>
        </p:nvSpPr>
        <p:spPr>
          <a:xfrm>
            <a:off x="3460699" y="1460754"/>
            <a:ext cx="260110" cy="0"/>
          </a:xfrm>
          <a:prstGeom prst="line">
            <a:avLst/>
          </a:prstGeom>
          <a:noFill/>
          <a:ln w="25400">
            <a:solidFill>
              <a:srgbClr val="06B6D4"/>
            </a:solidFill>
            <a:prstDash val="solid"/>
            <a:tailEnd type="triangle"/>
          </a:ln>
        </p:spPr>
      </p:sp>
      <p:sp>
        <p:nvSpPr>
          <p:cNvPr id="9" name="Text 6"/>
          <p:cNvSpPr txBox="1"/>
          <p:nvPr/>
        </p:nvSpPr>
        <p:spPr>
          <a:xfrm>
            <a:off x="3711244" y="1090422"/>
            <a:ext cx="1576426" cy="690372"/>
          </a:xfrm>
          <a:prstGeom prst="roundRect">
            <a:avLst>
              <a:gd name="adj" fmla="val 8421"/>
            </a:avLst>
          </a:prstGeom>
          <a:solidFill>
            <a:srgbClr val="0E7490"/>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Dynamic Resource Allocator</a:t>
            </a:r>
            <a:endParaRPr lang="en-US" sz="1300" dirty="0"/>
          </a:p>
        </p:txBody>
      </p:sp>
      <p:sp>
        <p:nvSpPr>
          <p:cNvPr id="10" name="Shape 7"/>
          <p:cNvSpPr/>
          <p:nvPr/>
        </p:nvSpPr>
        <p:spPr>
          <a:xfrm>
            <a:off x="5287670" y="1446124"/>
            <a:ext cx="260110" cy="0"/>
          </a:xfrm>
          <a:prstGeom prst="line">
            <a:avLst/>
          </a:prstGeom>
          <a:noFill/>
          <a:ln w="25400">
            <a:solidFill>
              <a:srgbClr val="06B6D4"/>
            </a:solidFill>
            <a:prstDash val="solid"/>
            <a:tailEnd type="triangle"/>
          </a:ln>
        </p:spPr>
      </p:sp>
      <p:sp>
        <p:nvSpPr>
          <p:cNvPr id="11" name="Text 8"/>
          <p:cNvSpPr txBox="1"/>
          <p:nvPr/>
        </p:nvSpPr>
        <p:spPr>
          <a:xfrm>
            <a:off x="7419252" y="1046988"/>
            <a:ext cx="1576426" cy="690372"/>
          </a:xfrm>
          <a:prstGeom prst="roundRect">
            <a:avLst>
              <a:gd name="adj" fmla="val 8421"/>
            </a:avLst>
          </a:prstGeom>
          <a:solidFill>
            <a:srgbClr val="12305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Allocation Status</a:t>
            </a:r>
            <a:endParaRPr lang="en-US" sz="1300" dirty="0"/>
          </a:p>
        </p:txBody>
      </p:sp>
      <p:sp>
        <p:nvSpPr>
          <p:cNvPr id="12" name="Shape 9"/>
          <p:cNvSpPr/>
          <p:nvPr/>
        </p:nvSpPr>
        <p:spPr>
          <a:xfrm>
            <a:off x="457200" y="2240280"/>
            <a:ext cx="3931920" cy="2331720"/>
          </a:xfrm>
          <a:prstGeom prst="roundRect">
            <a:avLst>
              <a:gd name="adj" fmla="val 3137"/>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3" name="Text 10"/>
          <p:cNvSpPr txBox="1"/>
          <p:nvPr/>
        </p:nvSpPr>
        <p:spPr>
          <a:xfrm>
            <a:off x="640080" y="2331720"/>
            <a:ext cx="3566160" cy="320040"/>
          </a:xfrm>
          <a:prstGeom prst="rect">
            <a:avLst/>
          </a:prstGeom>
          <a:noFill/>
          <a:ln/>
        </p:spPr>
        <p:txBody>
          <a:bodyPr wrap="square" lIns="0" tIns="0" rIns="0" bIns="0" rtlCol="0" anchor="t"/>
          <a:lstStyle/>
          <a:p>
            <a:pPr marL="0" indent="0">
              <a:buNone/>
            </a:pPr>
            <a:r>
              <a:rPr lang="en-US" sz="1600" b="1" dirty="0">
                <a:solidFill>
                  <a:srgbClr val="0B1F3A"/>
                </a:solidFill>
                <a:latin typeface="Cambria" pitchFamily="34" charset="0"/>
                <a:ea typeface="Cambria" pitchFamily="34" charset="-122"/>
                <a:cs typeface="Cambria" pitchFamily="34" charset="-120"/>
              </a:rPr>
              <a:t>Priority levels</a:t>
            </a:r>
            <a:endParaRPr lang="en-US" sz="1600" dirty="0"/>
          </a:p>
        </p:txBody>
      </p:sp>
      <p:sp>
        <p:nvSpPr>
          <p:cNvPr id="14" name="Text 11"/>
          <p:cNvSpPr txBox="1"/>
          <p:nvPr/>
        </p:nvSpPr>
        <p:spPr>
          <a:xfrm>
            <a:off x="640080" y="2697480"/>
            <a:ext cx="1371600" cy="329184"/>
          </a:xfrm>
          <a:prstGeom prst="roundRect">
            <a:avLst>
              <a:gd name="adj" fmla="val 22222"/>
            </a:avLst>
          </a:prstGeom>
          <a:solidFill>
            <a:srgbClr val="059669"/>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LOW</a:t>
            </a:r>
            <a:endParaRPr lang="en-US" sz="1200" dirty="0"/>
          </a:p>
        </p:txBody>
      </p:sp>
      <p:sp>
        <p:nvSpPr>
          <p:cNvPr id="15" name="Text 12"/>
          <p:cNvSpPr txBox="1"/>
          <p:nvPr/>
        </p:nvSpPr>
        <p:spPr>
          <a:xfrm>
            <a:off x="640080" y="3108960"/>
            <a:ext cx="1371600" cy="329184"/>
          </a:xfrm>
          <a:prstGeom prst="roundRect">
            <a:avLst>
              <a:gd name="adj" fmla="val 22222"/>
            </a:avLst>
          </a:prstGeom>
          <a:solidFill>
            <a:srgbClr val="D97706"/>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MEDIUM</a:t>
            </a:r>
            <a:endParaRPr lang="en-US" sz="1200" dirty="0"/>
          </a:p>
        </p:txBody>
      </p:sp>
      <p:sp>
        <p:nvSpPr>
          <p:cNvPr id="16" name="Text 13"/>
          <p:cNvSpPr txBox="1"/>
          <p:nvPr/>
        </p:nvSpPr>
        <p:spPr>
          <a:xfrm>
            <a:off x="640080" y="3520440"/>
            <a:ext cx="1371600" cy="329184"/>
          </a:xfrm>
          <a:prstGeom prst="roundRect">
            <a:avLst>
              <a:gd name="adj" fmla="val 22222"/>
            </a:avLst>
          </a:prstGeom>
          <a:solidFill>
            <a:srgbClr val="EA580C"/>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HIGH</a:t>
            </a:r>
            <a:endParaRPr lang="en-US" sz="1200" dirty="0"/>
          </a:p>
        </p:txBody>
      </p:sp>
      <p:sp>
        <p:nvSpPr>
          <p:cNvPr id="17" name="Text 14"/>
          <p:cNvSpPr txBox="1"/>
          <p:nvPr/>
        </p:nvSpPr>
        <p:spPr>
          <a:xfrm>
            <a:off x="640080" y="3931920"/>
            <a:ext cx="1371600" cy="329184"/>
          </a:xfrm>
          <a:prstGeom prst="roundRect">
            <a:avLst>
              <a:gd name="adj" fmla="val 22222"/>
            </a:avLst>
          </a:prstGeom>
          <a:solidFill>
            <a:srgbClr val="DC2626"/>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CRITICAL</a:t>
            </a:r>
            <a:endParaRPr lang="en-US" sz="1200" dirty="0"/>
          </a:p>
        </p:txBody>
      </p:sp>
      <p:sp>
        <p:nvSpPr>
          <p:cNvPr id="18" name="Text 15"/>
          <p:cNvSpPr txBox="1"/>
          <p:nvPr/>
        </p:nvSpPr>
        <p:spPr>
          <a:xfrm>
            <a:off x="2194560" y="2743200"/>
            <a:ext cx="2011680" cy="109728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Calculated from predicted CPU + predicted memory</a:t>
            </a:r>
            <a:endParaRPr lang="en-US" sz="1200" dirty="0"/>
          </a:p>
        </p:txBody>
      </p:sp>
      <p:sp>
        <p:nvSpPr>
          <p:cNvPr id="19" name="Shape 16"/>
          <p:cNvSpPr/>
          <p:nvPr/>
        </p:nvSpPr>
        <p:spPr>
          <a:xfrm>
            <a:off x="4663440" y="2240280"/>
            <a:ext cx="4023360" cy="2331720"/>
          </a:xfrm>
          <a:prstGeom prst="roundRect">
            <a:avLst>
              <a:gd name="adj" fmla="val 3137"/>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0" name="Text 17"/>
          <p:cNvSpPr txBox="1"/>
          <p:nvPr/>
        </p:nvSpPr>
        <p:spPr>
          <a:xfrm>
            <a:off x="4846320" y="2331720"/>
            <a:ext cx="3657600" cy="320040"/>
          </a:xfrm>
          <a:prstGeom prst="rect">
            <a:avLst/>
          </a:prstGeom>
          <a:noFill/>
          <a:ln/>
        </p:spPr>
        <p:txBody>
          <a:bodyPr wrap="square" lIns="0" tIns="0" rIns="0" bIns="0" rtlCol="0" anchor="t"/>
          <a:lstStyle/>
          <a:p>
            <a:pPr marL="0" indent="0">
              <a:buNone/>
            </a:pPr>
            <a:r>
              <a:rPr lang="en-US" sz="1600" b="1" dirty="0">
                <a:solidFill>
                  <a:srgbClr val="0B1F3A"/>
                </a:solidFill>
                <a:latin typeface="Cambria" pitchFamily="34" charset="0"/>
                <a:ea typeface="Cambria" pitchFamily="34" charset="-122"/>
                <a:cs typeface="Cambria" pitchFamily="34" charset="-120"/>
              </a:rPr>
              <a:t>Allocation status</a:t>
            </a:r>
            <a:endParaRPr lang="en-US" sz="1600" dirty="0"/>
          </a:p>
        </p:txBody>
      </p:sp>
      <p:sp>
        <p:nvSpPr>
          <p:cNvPr id="21" name="Text 18"/>
          <p:cNvSpPr txBox="1"/>
          <p:nvPr/>
        </p:nvSpPr>
        <p:spPr>
          <a:xfrm>
            <a:off x="4846320" y="2697480"/>
            <a:ext cx="1554480" cy="365760"/>
          </a:xfrm>
          <a:prstGeom prst="roundRect">
            <a:avLst>
              <a:gd name="adj" fmla="val 20000"/>
            </a:avLst>
          </a:prstGeom>
          <a:solidFill>
            <a:srgbClr val="059669"/>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FULL</a:t>
            </a:r>
            <a:endParaRPr lang="en-US" sz="1200" dirty="0"/>
          </a:p>
        </p:txBody>
      </p:sp>
      <p:sp>
        <p:nvSpPr>
          <p:cNvPr id="22" name="Text 19"/>
          <p:cNvSpPr txBox="1"/>
          <p:nvPr/>
        </p:nvSpPr>
        <p:spPr>
          <a:xfrm>
            <a:off x="6537960" y="2697480"/>
            <a:ext cx="201168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Request fully granted</a:t>
            </a:r>
            <a:endParaRPr lang="en-US" sz="1200" dirty="0"/>
          </a:p>
        </p:txBody>
      </p:sp>
      <p:sp>
        <p:nvSpPr>
          <p:cNvPr id="23" name="Text 20"/>
          <p:cNvSpPr txBox="1"/>
          <p:nvPr/>
        </p:nvSpPr>
        <p:spPr>
          <a:xfrm>
            <a:off x="4846320" y="3246120"/>
            <a:ext cx="1554480" cy="365760"/>
          </a:xfrm>
          <a:prstGeom prst="roundRect">
            <a:avLst>
              <a:gd name="adj" fmla="val 20000"/>
            </a:avLst>
          </a:prstGeom>
          <a:solidFill>
            <a:srgbClr val="D97706"/>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PARTIAL</a:t>
            </a:r>
            <a:endParaRPr lang="en-US" sz="1200" dirty="0"/>
          </a:p>
        </p:txBody>
      </p:sp>
      <p:sp>
        <p:nvSpPr>
          <p:cNvPr id="24" name="Text 21"/>
          <p:cNvSpPr txBox="1"/>
          <p:nvPr/>
        </p:nvSpPr>
        <p:spPr>
          <a:xfrm>
            <a:off x="6537960" y="3246120"/>
            <a:ext cx="201168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Part of the request granted</a:t>
            </a:r>
            <a:endParaRPr lang="en-US" sz="1200" dirty="0"/>
          </a:p>
        </p:txBody>
      </p:sp>
      <p:sp>
        <p:nvSpPr>
          <p:cNvPr id="25" name="Text 22"/>
          <p:cNvSpPr txBox="1"/>
          <p:nvPr/>
        </p:nvSpPr>
        <p:spPr>
          <a:xfrm>
            <a:off x="4846320" y="3794760"/>
            <a:ext cx="1554480" cy="365760"/>
          </a:xfrm>
          <a:prstGeom prst="roundRect">
            <a:avLst>
              <a:gd name="adj" fmla="val 20000"/>
            </a:avLst>
          </a:prstGeom>
          <a:solidFill>
            <a:srgbClr val="DC2626"/>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NOT_ALLOCATED</a:t>
            </a:r>
            <a:endParaRPr lang="en-US" sz="1200" dirty="0"/>
          </a:p>
        </p:txBody>
      </p:sp>
      <p:sp>
        <p:nvSpPr>
          <p:cNvPr id="26" name="Text 23"/>
          <p:cNvSpPr txBox="1"/>
          <p:nvPr/>
        </p:nvSpPr>
        <p:spPr>
          <a:xfrm>
            <a:off x="6537960" y="3794760"/>
            <a:ext cx="201168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No capacity assigned</a:t>
            </a:r>
            <a:endParaRPr lang="en-US" sz="12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9</a:t>
            </a:fld>
            <a:endParaRPr lang="en-US"/>
          </a:p>
        </p:txBody>
      </p:sp>
      <p:sp>
        <p:nvSpPr>
          <p:cNvPr id="28" name="Text 8">
            <a:extLst>
              <a:ext uri="{FF2B5EF4-FFF2-40B4-BE49-F238E27FC236}">
                <a16:creationId xmlns:a16="http://schemas.microsoft.com/office/drawing/2014/main" id="{AFC180F5-6B89-A316-659A-537F467EC3A8}"/>
              </a:ext>
            </a:extLst>
          </p:cNvPr>
          <p:cNvSpPr txBox="1"/>
          <p:nvPr/>
        </p:nvSpPr>
        <p:spPr>
          <a:xfrm>
            <a:off x="5533338" y="1046988"/>
            <a:ext cx="1576426" cy="690372"/>
          </a:xfrm>
          <a:prstGeom prst="roundRect">
            <a:avLst>
              <a:gd name="adj" fmla="val 8421"/>
            </a:avLst>
          </a:prstGeom>
          <a:solidFill>
            <a:srgbClr val="12305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Time Aware Allocation</a:t>
            </a:r>
            <a:endParaRPr lang="en-US" sz="1300" dirty="0"/>
          </a:p>
        </p:txBody>
      </p:sp>
      <p:sp>
        <p:nvSpPr>
          <p:cNvPr id="30" name="Shape 7">
            <a:extLst>
              <a:ext uri="{FF2B5EF4-FFF2-40B4-BE49-F238E27FC236}">
                <a16:creationId xmlns:a16="http://schemas.microsoft.com/office/drawing/2014/main" id="{F9A3FB01-619A-4D90-F703-EB492252C060}"/>
              </a:ext>
            </a:extLst>
          </p:cNvPr>
          <p:cNvSpPr/>
          <p:nvPr/>
        </p:nvSpPr>
        <p:spPr>
          <a:xfrm>
            <a:off x="7159142" y="1424788"/>
            <a:ext cx="260110" cy="0"/>
          </a:xfrm>
          <a:prstGeom prst="line">
            <a:avLst/>
          </a:prstGeom>
          <a:noFill/>
          <a:ln w="25400">
            <a:solidFill>
              <a:srgbClr val="06B6D4"/>
            </a:solidFill>
            <a:prstDash val="solid"/>
            <a:tailEnd type="triangle"/>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79C47774-2BF8-8223-937C-7F64117DFED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82A0CF-7C73-FDD1-E549-B12A7A43D4F3}"/>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Example:</a:t>
            </a:r>
            <a:endParaRPr lang="en-US" sz="2800" dirty="0"/>
          </a:p>
        </p:txBody>
      </p:sp>
      <p:sp>
        <p:nvSpPr>
          <p:cNvPr id="3" name="Text 1">
            <a:extLst>
              <a:ext uri="{FF2B5EF4-FFF2-40B4-BE49-F238E27FC236}">
                <a16:creationId xmlns:a16="http://schemas.microsoft.com/office/drawing/2014/main" id="{6FC41D99-8910-9963-456C-380887069A66}"/>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AB0FE2E1-E68D-8A39-59B8-48DA3C16BFB2}"/>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10</a:t>
            </a:fld>
            <a:endParaRPr lang="en-US"/>
          </a:p>
        </p:txBody>
      </p:sp>
      <p:pic>
        <p:nvPicPr>
          <p:cNvPr id="6" name="Picture 5">
            <a:extLst>
              <a:ext uri="{FF2B5EF4-FFF2-40B4-BE49-F238E27FC236}">
                <a16:creationId xmlns:a16="http://schemas.microsoft.com/office/drawing/2014/main" id="{F093B564-3E45-9FFF-2099-17146E3FBF56}"/>
              </a:ext>
            </a:extLst>
          </p:cNvPr>
          <p:cNvPicPr>
            <a:picLocks noChangeAspect="1"/>
          </p:cNvPicPr>
          <p:nvPr/>
        </p:nvPicPr>
        <p:blipFill>
          <a:blip r:embed="rId3"/>
          <a:stretch>
            <a:fillRect/>
          </a:stretch>
        </p:blipFill>
        <p:spPr>
          <a:xfrm>
            <a:off x="521253" y="1148811"/>
            <a:ext cx="7708347" cy="2399061"/>
          </a:xfrm>
          <a:prstGeom prst="rect">
            <a:avLst/>
          </a:prstGeom>
        </p:spPr>
      </p:pic>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88710F81-D85D-AA6F-A221-EAE4B06F8F93}"/>
                  </a:ext>
                </a:extLst>
              </p14:cNvPr>
              <p14:cNvContentPartPr/>
              <p14:nvPr/>
            </p14:nvContentPartPr>
            <p14:xfrm>
              <a:off x="6652296" y="1712808"/>
              <a:ext cx="532080" cy="186480"/>
            </p14:xfrm>
          </p:contentPart>
        </mc:Choice>
        <mc:Fallback>
          <p:pic>
            <p:nvPicPr>
              <p:cNvPr id="7" name="Ink 6">
                <a:extLst>
                  <a:ext uri="{FF2B5EF4-FFF2-40B4-BE49-F238E27FC236}">
                    <a16:creationId xmlns:a16="http://schemas.microsoft.com/office/drawing/2014/main" id="{88710F81-D85D-AA6F-A221-EAE4B06F8F93}"/>
                  </a:ext>
                </a:extLst>
              </p:cNvPr>
              <p:cNvPicPr/>
              <p:nvPr/>
            </p:nvPicPr>
            <p:blipFill>
              <a:blip r:embed="rId5"/>
              <a:stretch>
                <a:fillRect/>
              </a:stretch>
            </p:blipFill>
            <p:spPr>
              <a:xfrm>
                <a:off x="6634656" y="1695168"/>
                <a:ext cx="567720" cy="222120"/>
              </a:xfrm>
              <a:prstGeom prst="rect">
                <a:avLst/>
              </a:prstGeom>
            </p:spPr>
          </p:pic>
        </mc:Fallback>
      </mc:AlternateContent>
    </p:spTree>
    <p:extLst>
      <p:ext uri="{BB962C8B-B14F-4D97-AF65-F5344CB8AC3E}">
        <p14:creationId xmlns:p14="http://schemas.microsoft.com/office/powerpoint/2010/main" val="1136375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FastAPI Backend</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Shape 2"/>
          <p:cNvSpPr/>
          <p:nvPr/>
        </p:nvSpPr>
        <p:spPr>
          <a:xfrm>
            <a:off x="457200" y="1097280"/>
            <a:ext cx="3931920" cy="731520"/>
          </a:xfrm>
          <a:prstGeom prst="roundRect">
            <a:avLst>
              <a:gd name="adj" fmla="val 10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6" name="Text 3"/>
          <p:cNvSpPr txBox="1"/>
          <p:nvPr/>
        </p:nvSpPr>
        <p:spPr>
          <a:xfrm>
            <a:off x="621792" y="125730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1</a:t>
            </a:r>
            <a:endParaRPr lang="en-US" sz="1400" dirty="0"/>
          </a:p>
        </p:txBody>
      </p:sp>
      <p:sp>
        <p:nvSpPr>
          <p:cNvPr id="7" name="Text 4"/>
          <p:cNvSpPr txBox="1"/>
          <p:nvPr/>
        </p:nvSpPr>
        <p:spPr>
          <a:xfrm>
            <a:off x="1234440" y="1097280"/>
            <a:ext cx="3017520" cy="7315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Metrics endpoint</a:t>
            </a:r>
            <a:endParaRPr lang="en-US" sz="1400" dirty="0"/>
          </a:p>
        </p:txBody>
      </p:sp>
      <p:sp>
        <p:nvSpPr>
          <p:cNvPr id="8" name="Shape 5"/>
          <p:cNvSpPr/>
          <p:nvPr/>
        </p:nvSpPr>
        <p:spPr>
          <a:xfrm>
            <a:off x="457200" y="1965960"/>
            <a:ext cx="3931920" cy="731520"/>
          </a:xfrm>
          <a:prstGeom prst="roundRect">
            <a:avLst>
              <a:gd name="adj" fmla="val 10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9" name="Text 6"/>
          <p:cNvSpPr txBox="1"/>
          <p:nvPr/>
        </p:nvSpPr>
        <p:spPr>
          <a:xfrm>
            <a:off x="621792" y="212598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2</a:t>
            </a:r>
            <a:endParaRPr lang="en-US" sz="1400" dirty="0"/>
          </a:p>
        </p:txBody>
      </p:sp>
      <p:sp>
        <p:nvSpPr>
          <p:cNvPr id="10" name="Text 7"/>
          <p:cNvSpPr txBox="1"/>
          <p:nvPr/>
        </p:nvSpPr>
        <p:spPr>
          <a:xfrm>
            <a:off x="1234440" y="1965960"/>
            <a:ext cx="3017520" cy="7315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Predictions endpoint</a:t>
            </a:r>
            <a:endParaRPr lang="en-US" sz="1400" dirty="0"/>
          </a:p>
        </p:txBody>
      </p:sp>
      <p:sp>
        <p:nvSpPr>
          <p:cNvPr id="11" name="Shape 8"/>
          <p:cNvSpPr/>
          <p:nvPr/>
        </p:nvSpPr>
        <p:spPr>
          <a:xfrm>
            <a:off x="457200" y="2834640"/>
            <a:ext cx="3931920" cy="731520"/>
          </a:xfrm>
          <a:prstGeom prst="roundRect">
            <a:avLst>
              <a:gd name="adj" fmla="val 10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2" name="Text 9"/>
          <p:cNvSpPr txBox="1"/>
          <p:nvPr/>
        </p:nvSpPr>
        <p:spPr>
          <a:xfrm>
            <a:off x="621792" y="299466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3</a:t>
            </a:r>
            <a:endParaRPr lang="en-US" sz="1400" dirty="0"/>
          </a:p>
        </p:txBody>
      </p:sp>
      <p:sp>
        <p:nvSpPr>
          <p:cNvPr id="13" name="Text 10"/>
          <p:cNvSpPr txBox="1"/>
          <p:nvPr/>
        </p:nvSpPr>
        <p:spPr>
          <a:xfrm>
            <a:off x="1234440" y="2834640"/>
            <a:ext cx="3017520" cy="7315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Allocations endpoint</a:t>
            </a:r>
            <a:endParaRPr lang="en-US" sz="1400" dirty="0"/>
          </a:p>
        </p:txBody>
      </p:sp>
      <p:sp>
        <p:nvSpPr>
          <p:cNvPr id="14" name="Shape 11"/>
          <p:cNvSpPr/>
          <p:nvPr/>
        </p:nvSpPr>
        <p:spPr>
          <a:xfrm>
            <a:off x="457200" y="3703320"/>
            <a:ext cx="3931920" cy="731520"/>
          </a:xfrm>
          <a:prstGeom prst="roundRect">
            <a:avLst>
              <a:gd name="adj" fmla="val 10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5" name="Text 12"/>
          <p:cNvSpPr txBox="1"/>
          <p:nvPr/>
        </p:nvSpPr>
        <p:spPr>
          <a:xfrm>
            <a:off x="621792" y="386334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4</a:t>
            </a:r>
            <a:endParaRPr lang="en-US" sz="1400" dirty="0"/>
          </a:p>
        </p:txBody>
      </p:sp>
      <p:sp>
        <p:nvSpPr>
          <p:cNvPr id="16" name="Text 13"/>
          <p:cNvSpPr txBox="1"/>
          <p:nvPr/>
        </p:nvSpPr>
        <p:spPr>
          <a:xfrm>
            <a:off x="1234440" y="3703320"/>
            <a:ext cx="3017520" cy="7315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CSV upload / optimization endpoints</a:t>
            </a:r>
            <a:endParaRPr lang="en-US" sz="1400" dirty="0"/>
          </a:p>
        </p:txBody>
      </p:sp>
      <p:sp>
        <p:nvSpPr>
          <p:cNvPr id="17" name="Shape 14"/>
          <p:cNvSpPr/>
          <p:nvPr/>
        </p:nvSpPr>
        <p:spPr>
          <a:xfrm>
            <a:off x="4663440" y="1097280"/>
            <a:ext cx="4023360" cy="3474720"/>
          </a:xfrm>
          <a:prstGeom prst="roundRect">
            <a:avLst>
              <a:gd name="adj" fmla="val 2105"/>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8" name="Text 15"/>
          <p:cNvSpPr txBox="1"/>
          <p:nvPr/>
        </p:nvSpPr>
        <p:spPr>
          <a:xfrm>
            <a:off x="4846320" y="1207008"/>
            <a:ext cx="3657600" cy="320040"/>
          </a:xfrm>
          <a:prstGeom prst="rect">
            <a:avLst/>
          </a:prstGeom>
          <a:noFill/>
          <a:ln/>
        </p:spPr>
        <p:txBody>
          <a:bodyPr wrap="square" lIns="0" tIns="0" rIns="0" bIns="0" rtlCol="0" anchor="t"/>
          <a:lstStyle/>
          <a:p>
            <a:pPr marL="0" indent="0">
              <a:buNone/>
            </a:pPr>
            <a:r>
              <a:rPr lang="en-US" sz="1600" b="1" dirty="0">
                <a:solidFill>
                  <a:srgbClr val="0E7490"/>
                </a:solidFill>
                <a:latin typeface="Cambria" pitchFamily="34" charset="0"/>
                <a:ea typeface="Cambria" pitchFamily="34" charset="-122"/>
                <a:cs typeface="Cambria" pitchFamily="34" charset="-120"/>
              </a:rPr>
              <a:t>Background optimization job</a:t>
            </a:r>
            <a:endParaRPr lang="en-US" sz="1600" dirty="0"/>
          </a:p>
        </p:txBody>
      </p:sp>
      <p:sp>
        <p:nvSpPr>
          <p:cNvPr id="19" name="Text 16"/>
          <p:cNvSpPr txBox="1"/>
          <p:nvPr/>
        </p:nvSpPr>
        <p:spPr>
          <a:xfrm>
            <a:off x="5029200" y="1691640"/>
            <a:ext cx="3291840" cy="475488"/>
          </a:xfrm>
          <a:prstGeom prst="roundRect">
            <a:avLst>
              <a:gd name="adj" fmla="val 15385"/>
            </a:avLst>
          </a:prstGeom>
          <a:solidFill>
            <a:srgbClr val="12305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Upload CSV</a:t>
            </a:r>
            <a:endParaRPr lang="en-US" sz="1300" dirty="0"/>
          </a:p>
        </p:txBody>
      </p:sp>
      <p:sp>
        <p:nvSpPr>
          <p:cNvPr id="20" name="Shape 17"/>
          <p:cNvSpPr/>
          <p:nvPr/>
        </p:nvSpPr>
        <p:spPr>
          <a:xfrm>
            <a:off x="6675120" y="2167128"/>
            <a:ext cx="0" cy="228600"/>
          </a:xfrm>
          <a:prstGeom prst="line">
            <a:avLst/>
          </a:prstGeom>
          <a:noFill/>
          <a:ln w="25400">
            <a:solidFill>
              <a:srgbClr val="06B6D4"/>
            </a:solidFill>
            <a:prstDash val="solid"/>
            <a:tailEnd type="triangle"/>
          </a:ln>
        </p:spPr>
      </p:sp>
      <p:sp>
        <p:nvSpPr>
          <p:cNvPr id="21" name="Text 18"/>
          <p:cNvSpPr txBox="1"/>
          <p:nvPr/>
        </p:nvSpPr>
        <p:spPr>
          <a:xfrm>
            <a:off x="5029200" y="2395728"/>
            <a:ext cx="3291840" cy="475488"/>
          </a:xfrm>
          <a:prstGeom prst="roundRect">
            <a:avLst>
              <a:gd name="adj" fmla="val 15385"/>
            </a:avLst>
          </a:prstGeom>
          <a:solidFill>
            <a:srgbClr val="0E7490"/>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Start optimization (background job)</a:t>
            </a:r>
            <a:endParaRPr lang="en-US" sz="1300" dirty="0"/>
          </a:p>
        </p:txBody>
      </p:sp>
      <p:sp>
        <p:nvSpPr>
          <p:cNvPr id="22" name="Shape 19"/>
          <p:cNvSpPr/>
          <p:nvPr/>
        </p:nvSpPr>
        <p:spPr>
          <a:xfrm>
            <a:off x="6675120" y="2871216"/>
            <a:ext cx="0" cy="228600"/>
          </a:xfrm>
          <a:prstGeom prst="line">
            <a:avLst/>
          </a:prstGeom>
          <a:noFill/>
          <a:ln w="25400">
            <a:solidFill>
              <a:srgbClr val="06B6D4"/>
            </a:solidFill>
            <a:prstDash val="solid"/>
            <a:tailEnd type="triangle"/>
          </a:ln>
        </p:spPr>
      </p:sp>
      <p:sp>
        <p:nvSpPr>
          <p:cNvPr id="23" name="Text 20"/>
          <p:cNvSpPr txBox="1"/>
          <p:nvPr/>
        </p:nvSpPr>
        <p:spPr>
          <a:xfrm>
            <a:off x="5029200" y="3099816"/>
            <a:ext cx="3291840" cy="475488"/>
          </a:xfrm>
          <a:prstGeom prst="roundRect">
            <a:avLst>
              <a:gd name="adj" fmla="val 15385"/>
            </a:avLst>
          </a:prstGeom>
          <a:solidFill>
            <a:srgbClr val="12305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Poll job status via API</a:t>
            </a:r>
            <a:endParaRPr lang="en-US" sz="1300" dirty="0"/>
          </a:p>
        </p:txBody>
      </p:sp>
      <p:sp>
        <p:nvSpPr>
          <p:cNvPr id="24" name="Shape 21"/>
          <p:cNvSpPr/>
          <p:nvPr/>
        </p:nvSpPr>
        <p:spPr>
          <a:xfrm>
            <a:off x="6675120" y="3575304"/>
            <a:ext cx="0" cy="228600"/>
          </a:xfrm>
          <a:prstGeom prst="line">
            <a:avLst/>
          </a:prstGeom>
          <a:noFill/>
          <a:ln w="25400">
            <a:solidFill>
              <a:srgbClr val="06B6D4"/>
            </a:solidFill>
            <a:prstDash val="solid"/>
            <a:tailEnd type="triangle"/>
          </a:ln>
        </p:spPr>
      </p:sp>
      <p:sp>
        <p:nvSpPr>
          <p:cNvPr id="25" name="Text 22"/>
          <p:cNvSpPr txBox="1"/>
          <p:nvPr/>
        </p:nvSpPr>
        <p:spPr>
          <a:xfrm>
            <a:off x="5029200" y="3803904"/>
            <a:ext cx="3291840" cy="475488"/>
          </a:xfrm>
          <a:prstGeom prst="roundRect">
            <a:avLst>
              <a:gd name="adj" fmla="val 15385"/>
            </a:avLst>
          </a:prstGeom>
          <a:solidFill>
            <a:srgbClr val="12305A"/>
          </a:solidFill>
          <a:ln/>
        </p:spPr>
        <p:txBody>
          <a:bodyPr wrap="square" lIns="635" tIns="635" rIns="635" bIns="635"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Fetch results</a:t>
            </a:r>
            <a:endParaRPr lang="en-US" sz="13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React Dashboard &amp; Demo Flow</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Text 2"/>
          <p:cNvSpPr txBox="1"/>
          <p:nvPr/>
        </p:nvSpPr>
        <p:spPr>
          <a:xfrm>
            <a:off x="457200" y="1097280"/>
            <a:ext cx="1481328" cy="1005840"/>
          </a:xfrm>
          <a:prstGeom prst="roundRect">
            <a:avLst>
              <a:gd name="adj" fmla="val 7273"/>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1</a:t>
            </a:r>
            <a:endParaRPr lang="en-US" sz="1600" dirty="0"/>
          </a:p>
          <a:p>
            <a:pPr marL="0" indent="0" algn="ctr">
              <a:buNone/>
            </a:pPr>
            <a:r>
              <a:rPr lang="en-US" sz="1200" b="1" dirty="0">
                <a:solidFill>
                  <a:srgbClr val="FFFFFF"/>
                </a:solidFill>
              </a:rPr>
              <a:t>Upload CSV</a:t>
            </a:r>
            <a:endParaRPr lang="en-US" sz="1600" dirty="0"/>
          </a:p>
        </p:txBody>
      </p:sp>
      <p:sp>
        <p:nvSpPr>
          <p:cNvPr id="6" name="Shape 3"/>
          <p:cNvSpPr/>
          <p:nvPr/>
        </p:nvSpPr>
        <p:spPr>
          <a:xfrm>
            <a:off x="1938528" y="1600200"/>
            <a:ext cx="201168" cy="0"/>
          </a:xfrm>
          <a:prstGeom prst="line">
            <a:avLst/>
          </a:prstGeom>
          <a:noFill/>
          <a:ln w="25400">
            <a:solidFill>
              <a:srgbClr val="06B6D4"/>
            </a:solidFill>
            <a:prstDash val="solid"/>
            <a:tailEnd type="triangle"/>
          </a:ln>
        </p:spPr>
      </p:sp>
      <p:sp>
        <p:nvSpPr>
          <p:cNvPr id="7" name="Text 4"/>
          <p:cNvSpPr txBox="1"/>
          <p:nvPr/>
        </p:nvSpPr>
        <p:spPr>
          <a:xfrm>
            <a:off x="2139696" y="1097280"/>
            <a:ext cx="1481328" cy="1005840"/>
          </a:xfrm>
          <a:prstGeom prst="roundRect">
            <a:avLst>
              <a:gd name="adj" fmla="val 7273"/>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2</a:t>
            </a:r>
            <a:endParaRPr lang="en-US" sz="1600" dirty="0"/>
          </a:p>
          <a:p>
            <a:pPr marL="0" indent="0" algn="ctr">
              <a:buNone/>
            </a:pPr>
            <a:r>
              <a:rPr lang="en-US" sz="1200" b="1" dirty="0">
                <a:solidFill>
                  <a:srgbClr val="FFFFFF"/>
                </a:solidFill>
              </a:rPr>
              <a:t>Run Optimization</a:t>
            </a:r>
            <a:endParaRPr lang="en-US" sz="1600" dirty="0"/>
          </a:p>
        </p:txBody>
      </p:sp>
      <p:sp>
        <p:nvSpPr>
          <p:cNvPr id="8" name="Shape 5"/>
          <p:cNvSpPr/>
          <p:nvPr/>
        </p:nvSpPr>
        <p:spPr>
          <a:xfrm>
            <a:off x="3621024" y="1600200"/>
            <a:ext cx="201168" cy="0"/>
          </a:xfrm>
          <a:prstGeom prst="line">
            <a:avLst/>
          </a:prstGeom>
          <a:noFill/>
          <a:ln w="25400">
            <a:solidFill>
              <a:srgbClr val="06B6D4"/>
            </a:solidFill>
            <a:prstDash val="solid"/>
            <a:tailEnd type="triangle"/>
          </a:ln>
        </p:spPr>
      </p:sp>
      <p:sp>
        <p:nvSpPr>
          <p:cNvPr id="9" name="Text 6"/>
          <p:cNvSpPr txBox="1"/>
          <p:nvPr/>
        </p:nvSpPr>
        <p:spPr>
          <a:xfrm>
            <a:off x="3822192" y="1097280"/>
            <a:ext cx="1481328" cy="1005840"/>
          </a:xfrm>
          <a:prstGeom prst="roundRect">
            <a:avLst>
              <a:gd name="adj" fmla="val 7273"/>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3</a:t>
            </a:r>
            <a:endParaRPr lang="en-US" sz="1600" dirty="0"/>
          </a:p>
          <a:p>
            <a:pPr marL="0" indent="0" algn="ctr">
              <a:buNone/>
            </a:pPr>
            <a:r>
              <a:rPr lang="en-US" sz="1200" b="1" dirty="0">
                <a:solidFill>
                  <a:srgbClr val="FFFFFF"/>
                </a:solidFill>
              </a:rPr>
              <a:t>Monitor Status</a:t>
            </a:r>
            <a:endParaRPr lang="en-US" sz="1600" dirty="0"/>
          </a:p>
        </p:txBody>
      </p:sp>
      <p:sp>
        <p:nvSpPr>
          <p:cNvPr id="10" name="Shape 7"/>
          <p:cNvSpPr/>
          <p:nvPr/>
        </p:nvSpPr>
        <p:spPr>
          <a:xfrm>
            <a:off x="5303520" y="1600200"/>
            <a:ext cx="201168" cy="0"/>
          </a:xfrm>
          <a:prstGeom prst="line">
            <a:avLst/>
          </a:prstGeom>
          <a:noFill/>
          <a:ln w="25400">
            <a:solidFill>
              <a:srgbClr val="06B6D4"/>
            </a:solidFill>
            <a:prstDash val="solid"/>
            <a:tailEnd type="triangle"/>
          </a:ln>
        </p:spPr>
      </p:sp>
      <p:sp>
        <p:nvSpPr>
          <p:cNvPr id="11" name="Text 8"/>
          <p:cNvSpPr txBox="1"/>
          <p:nvPr/>
        </p:nvSpPr>
        <p:spPr>
          <a:xfrm>
            <a:off x="5504688" y="1097280"/>
            <a:ext cx="1481328" cy="1005840"/>
          </a:xfrm>
          <a:prstGeom prst="roundRect">
            <a:avLst>
              <a:gd name="adj" fmla="val 7273"/>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4</a:t>
            </a:r>
            <a:endParaRPr lang="en-US" sz="1600" dirty="0"/>
          </a:p>
          <a:p>
            <a:pPr marL="0" indent="0" algn="ctr">
              <a:buNone/>
            </a:pPr>
            <a:r>
              <a:rPr lang="en-US" sz="1200" b="1" dirty="0">
                <a:solidFill>
                  <a:srgbClr val="FFFFFF"/>
                </a:solidFill>
              </a:rPr>
              <a:t>View Metrics &amp; Predictions</a:t>
            </a:r>
            <a:endParaRPr lang="en-US" sz="1600" dirty="0"/>
          </a:p>
        </p:txBody>
      </p:sp>
      <p:sp>
        <p:nvSpPr>
          <p:cNvPr id="12" name="Shape 9"/>
          <p:cNvSpPr/>
          <p:nvPr/>
        </p:nvSpPr>
        <p:spPr>
          <a:xfrm>
            <a:off x="6986016" y="1600200"/>
            <a:ext cx="201168" cy="0"/>
          </a:xfrm>
          <a:prstGeom prst="line">
            <a:avLst/>
          </a:prstGeom>
          <a:noFill/>
          <a:ln w="25400">
            <a:solidFill>
              <a:srgbClr val="06B6D4"/>
            </a:solidFill>
            <a:prstDash val="solid"/>
            <a:tailEnd type="triangle"/>
          </a:ln>
        </p:spPr>
      </p:sp>
      <p:sp>
        <p:nvSpPr>
          <p:cNvPr id="13" name="Text 10"/>
          <p:cNvSpPr txBox="1"/>
          <p:nvPr/>
        </p:nvSpPr>
        <p:spPr>
          <a:xfrm>
            <a:off x="7187184" y="1097280"/>
            <a:ext cx="1481328" cy="1005840"/>
          </a:xfrm>
          <a:prstGeom prst="roundRect">
            <a:avLst>
              <a:gd name="adj" fmla="val 7273"/>
            </a:avLst>
          </a:prstGeom>
          <a:solidFill>
            <a:srgbClr val="12305A"/>
          </a:solidFill>
          <a:ln/>
          <a:effectLst>
            <a:outerShdw blurRad="76200" dist="25400" dir="5400000" algn="bl" rotWithShape="0">
              <a:srgbClr val="0B1F3A">
                <a:alpha val="12000"/>
              </a:srgbClr>
            </a:outerShdw>
          </a:effectLst>
        </p:spPr>
        <p:txBody>
          <a:bodyPr wrap="square" lIns="635" tIns="635" rIns="635" bIns="635" rtlCol="0" anchor="ctr"/>
          <a:lstStyle/>
          <a:p>
            <a:pPr marL="0" indent="0" algn="ctr">
              <a:buNone/>
            </a:pPr>
            <a:r>
              <a:rPr lang="en-US" sz="1600" b="1" dirty="0">
                <a:solidFill>
                  <a:srgbClr val="06B6D4"/>
                </a:solidFill>
              </a:rPr>
              <a:t>5</a:t>
            </a:r>
            <a:endParaRPr lang="en-US" sz="1600" dirty="0"/>
          </a:p>
          <a:p>
            <a:pPr marL="0" indent="0" algn="ctr">
              <a:buNone/>
            </a:pPr>
            <a:r>
              <a:rPr lang="en-US" sz="1200" b="1" dirty="0">
                <a:solidFill>
                  <a:srgbClr val="FFFFFF"/>
                </a:solidFill>
              </a:rPr>
              <a:t>Review Allocations &amp; Tasks</a:t>
            </a:r>
            <a:endParaRPr lang="en-US" sz="1600" dirty="0"/>
          </a:p>
        </p:txBody>
      </p:sp>
      <p:sp>
        <p:nvSpPr>
          <p:cNvPr id="14" name="Text 11"/>
          <p:cNvSpPr txBox="1"/>
          <p:nvPr/>
        </p:nvSpPr>
        <p:spPr>
          <a:xfrm>
            <a:off x="457200" y="2423160"/>
            <a:ext cx="3657600" cy="27432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Dashboard panels</a:t>
            </a:r>
            <a:endParaRPr lang="en-US" sz="1400" dirty="0"/>
          </a:p>
        </p:txBody>
      </p:sp>
      <p:sp>
        <p:nvSpPr>
          <p:cNvPr id="15" name="Shape 12"/>
          <p:cNvSpPr/>
          <p:nvPr/>
        </p:nvSpPr>
        <p:spPr>
          <a:xfrm>
            <a:off x="457200" y="2788920"/>
            <a:ext cx="1920240" cy="640080"/>
          </a:xfrm>
          <a:prstGeom prst="roundRect">
            <a:avLst>
              <a:gd name="adj" fmla="val 11429"/>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6" name="Text 13"/>
          <p:cNvSpPr txBox="1"/>
          <p:nvPr/>
        </p:nvSpPr>
        <p:spPr>
          <a:xfrm>
            <a:off x="457200" y="2788920"/>
            <a:ext cx="1920240" cy="640080"/>
          </a:xfrm>
          <a:prstGeom prst="rect">
            <a:avLst/>
          </a:prstGeom>
          <a:noFill/>
          <a:ln/>
        </p:spPr>
        <p:txBody>
          <a:bodyPr wrap="square" lIns="0" tIns="0" rIns="0" bIns="0" rtlCol="0" anchor="ctr"/>
          <a:lstStyle/>
          <a:p>
            <a:pPr marL="0" indent="0" algn="ctr">
              <a:buNone/>
            </a:pPr>
            <a:r>
              <a:rPr lang="en-US" sz="1300" b="1" dirty="0">
                <a:solidFill>
                  <a:srgbClr val="0E7490"/>
                </a:solidFill>
                <a:latin typeface="Calibri" pitchFamily="34" charset="0"/>
                <a:ea typeface="Calibri" pitchFamily="34" charset="-122"/>
                <a:cs typeface="Calibri" pitchFamily="34" charset="-120"/>
              </a:rPr>
              <a:t>CSV Upload</a:t>
            </a:r>
            <a:endParaRPr lang="en-US" sz="1300" dirty="0"/>
          </a:p>
        </p:txBody>
      </p:sp>
      <p:sp>
        <p:nvSpPr>
          <p:cNvPr id="17" name="Shape 14"/>
          <p:cNvSpPr/>
          <p:nvPr/>
        </p:nvSpPr>
        <p:spPr>
          <a:xfrm>
            <a:off x="2560320" y="2788920"/>
            <a:ext cx="1920240" cy="640080"/>
          </a:xfrm>
          <a:prstGeom prst="roundRect">
            <a:avLst>
              <a:gd name="adj" fmla="val 11429"/>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8" name="Text 15"/>
          <p:cNvSpPr txBox="1"/>
          <p:nvPr/>
        </p:nvSpPr>
        <p:spPr>
          <a:xfrm>
            <a:off x="2560320" y="2788920"/>
            <a:ext cx="1920240" cy="640080"/>
          </a:xfrm>
          <a:prstGeom prst="rect">
            <a:avLst/>
          </a:prstGeom>
          <a:noFill/>
          <a:ln/>
        </p:spPr>
        <p:txBody>
          <a:bodyPr wrap="square" lIns="0" tIns="0" rIns="0" bIns="0" rtlCol="0" anchor="ctr"/>
          <a:lstStyle/>
          <a:p>
            <a:pPr marL="0" indent="0" algn="ctr">
              <a:buNone/>
            </a:pPr>
            <a:r>
              <a:rPr lang="en-US" sz="1300" b="1" dirty="0">
                <a:solidFill>
                  <a:srgbClr val="0E7490"/>
                </a:solidFill>
                <a:latin typeface="Calibri" pitchFamily="34" charset="0"/>
                <a:ea typeface="Calibri" pitchFamily="34" charset="-122"/>
                <a:cs typeface="Calibri" pitchFamily="34" charset="-120"/>
              </a:rPr>
              <a:t>Run Optimization Button</a:t>
            </a:r>
            <a:endParaRPr lang="en-US" sz="1300" dirty="0"/>
          </a:p>
        </p:txBody>
      </p:sp>
      <p:sp>
        <p:nvSpPr>
          <p:cNvPr id="19" name="Shape 16"/>
          <p:cNvSpPr/>
          <p:nvPr/>
        </p:nvSpPr>
        <p:spPr>
          <a:xfrm>
            <a:off x="4663440" y="2788920"/>
            <a:ext cx="1920240" cy="640080"/>
          </a:xfrm>
          <a:prstGeom prst="roundRect">
            <a:avLst>
              <a:gd name="adj" fmla="val 11429"/>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0" name="Text 17"/>
          <p:cNvSpPr txBox="1"/>
          <p:nvPr/>
        </p:nvSpPr>
        <p:spPr>
          <a:xfrm>
            <a:off x="4663440" y="2788920"/>
            <a:ext cx="1920240" cy="640080"/>
          </a:xfrm>
          <a:prstGeom prst="rect">
            <a:avLst/>
          </a:prstGeom>
          <a:noFill/>
          <a:ln/>
        </p:spPr>
        <p:txBody>
          <a:bodyPr wrap="square" lIns="0" tIns="0" rIns="0" bIns="0" rtlCol="0" anchor="ctr"/>
          <a:lstStyle/>
          <a:p>
            <a:pPr marL="0" indent="0" algn="ctr">
              <a:buNone/>
            </a:pPr>
            <a:r>
              <a:rPr lang="en-US" sz="1300" b="1" dirty="0">
                <a:solidFill>
                  <a:srgbClr val="0E7490"/>
                </a:solidFill>
                <a:latin typeface="Calibri" pitchFamily="34" charset="0"/>
                <a:ea typeface="Calibri" pitchFamily="34" charset="-122"/>
                <a:cs typeface="Calibri" pitchFamily="34" charset="-120"/>
              </a:rPr>
              <a:t>Optimization Status</a:t>
            </a:r>
            <a:endParaRPr lang="en-US" sz="1300" dirty="0"/>
          </a:p>
        </p:txBody>
      </p:sp>
      <p:sp>
        <p:nvSpPr>
          <p:cNvPr id="21" name="Shape 18"/>
          <p:cNvSpPr/>
          <p:nvPr/>
        </p:nvSpPr>
        <p:spPr>
          <a:xfrm>
            <a:off x="6766560" y="2788920"/>
            <a:ext cx="1920240" cy="640080"/>
          </a:xfrm>
          <a:prstGeom prst="roundRect">
            <a:avLst>
              <a:gd name="adj" fmla="val 11429"/>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2" name="Text 19"/>
          <p:cNvSpPr txBox="1"/>
          <p:nvPr/>
        </p:nvSpPr>
        <p:spPr>
          <a:xfrm>
            <a:off x="6766560" y="2788920"/>
            <a:ext cx="1920240" cy="640080"/>
          </a:xfrm>
          <a:prstGeom prst="rect">
            <a:avLst/>
          </a:prstGeom>
          <a:noFill/>
          <a:ln/>
        </p:spPr>
        <p:txBody>
          <a:bodyPr wrap="square" lIns="0" tIns="0" rIns="0" bIns="0" rtlCol="0" anchor="ctr"/>
          <a:lstStyle/>
          <a:p>
            <a:pPr marL="0" indent="0" algn="ctr">
              <a:buNone/>
            </a:pPr>
            <a:r>
              <a:rPr lang="en-US" sz="1300" b="1" dirty="0">
                <a:solidFill>
                  <a:srgbClr val="0E7490"/>
                </a:solidFill>
                <a:latin typeface="Calibri" pitchFamily="34" charset="0"/>
                <a:ea typeface="Calibri" pitchFamily="34" charset="-122"/>
                <a:cs typeface="Calibri" pitchFamily="34" charset="-120"/>
              </a:rPr>
              <a:t>Metrics</a:t>
            </a:r>
            <a:endParaRPr lang="en-US" sz="1300" dirty="0"/>
          </a:p>
        </p:txBody>
      </p:sp>
      <p:sp>
        <p:nvSpPr>
          <p:cNvPr id="23" name="Shape 20"/>
          <p:cNvSpPr/>
          <p:nvPr/>
        </p:nvSpPr>
        <p:spPr>
          <a:xfrm>
            <a:off x="457200" y="3566160"/>
            <a:ext cx="1920240" cy="640080"/>
          </a:xfrm>
          <a:prstGeom prst="roundRect">
            <a:avLst>
              <a:gd name="adj" fmla="val 11429"/>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4" name="Text 21"/>
          <p:cNvSpPr txBox="1"/>
          <p:nvPr/>
        </p:nvSpPr>
        <p:spPr>
          <a:xfrm>
            <a:off x="457200" y="3566160"/>
            <a:ext cx="1920240" cy="640080"/>
          </a:xfrm>
          <a:prstGeom prst="rect">
            <a:avLst/>
          </a:prstGeom>
          <a:noFill/>
          <a:ln/>
        </p:spPr>
        <p:txBody>
          <a:bodyPr wrap="square" lIns="0" tIns="0" rIns="0" bIns="0" rtlCol="0" anchor="ctr"/>
          <a:lstStyle/>
          <a:p>
            <a:pPr marL="0" indent="0" algn="ctr">
              <a:buNone/>
            </a:pPr>
            <a:r>
              <a:rPr lang="en-US" sz="1300" b="1" dirty="0">
                <a:solidFill>
                  <a:srgbClr val="0E7490"/>
                </a:solidFill>
                <a:latin typeface="Calibri" pitchFamily="34" charset="0"/>
                <a:ea typeface="Calibri" pitchFamily="34" charset="-122"/>
                <a:cs typeface="Calibri" pitchFamily="34" charset="-120"/>
              </a:rPr>
              <a:t>Predictions</a:t>
            </a:r>
            <a:endParaRPr lang="en-US" sz="1300" dirty="0"/>
          </a:p>
        </p:txBody>
      </p:sp>
      <p:sp>
        <p:nvSpPr>
          <p:cNvPr id="25" name="Shape 22"/>
          <p:cNvSpPr/>
          <p:nvPr/>
        </p:nvSpPr>
        <p:spPr>
          <a:xfrm>
            <a:off x="2560320" y="3566160"/>
            <a:ext cx="1920240" cy="640080"/>
          </a:xfrm>
          <a:prstGeom prst="roundRect">
            <a:avLst>
              <a:gd name="adj" fmla="val 11429"/>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6" name="Text 23"/>
          <p:cNvSpPr txBox="1"/>
          <p:nvPr/>
        </p:nvSpPr>
        <p:spPr>
          <a:xfrm>
            <a:off x="2560320" y="3566160"/>
            <a:ext cx="1920240" cy="640080"/>
          </a:xfrm>
          <a:prstGeom prst="rect">
            <a:avLst/>
          </a:prstGeom>
          <a:noFill/>
          <a:ln/>
        </p:spPr>
        <p:txBody>
          <a:bodyPr wrap="square" lIns="0" tIns="0" rIns="0" bIns="0" rtlCol="0" anchor="ctr"/>
          <a:lstStyle/>
          <a:p>
            <a:pPr marL="0" indent="0" algn="ctr">
              <a:buNone/>
            </a:pPr>
            <a:r>
              <a:rPr lang="en-US" sz="1300" b="1" dirty="0">
                <a:solidFill>
                  <a:srgbClr val="0E7490"/>
                </a:solidFill>
                <a:latin typeface="Calibri" pitchFamily="34" charset="0"/>
                <a:ea typeface="Calibri" pitchFamily="34" charset="-122"/>
                <a:cs typeface="Calibri" pitchFamily="34" charset="-120"/>
              </a:rPr>
              <a:t>Resource Allocation</a:t>
            </a:r>
            <a:endParaRPr lang="en-US" sz="1300" dirty="0"/>
          </a:p>
        </p:txBody>
      </p:sp>
      <p:sp>
        <p:nvSpPr>
          <p:cNvPr id="27" name="Shape 24"/>
          <p:cNvSpPr/>
          <p:nvPr/>
        </p:nvSpPr>
        <p:spPr>
          <a:xfrm>
            <a:off x="4663440" y="3566160"/>
            <a:ext cx="1920240" cy="640080"/>
          </a:xfrm>
          <a:prstGeom prst="roundRect">
            <a:avLst>
              <a:gd name="adj" fmla="val 11429"/>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8" name="Text 25"/>
          <p:cNvSpPr txBox="1"/>
          <p:nvPr/>
        </p:nvSpPr>
        <p:spPr>
          <a:xfrm>
            <a:off x="4663440" y="3566160"/>
            <a:ext cx="1920240" cy="640080"/>
          </a:xfrm>
          <a:prstGeom prst="rect">
            <a:avLst/>
          </a:prstGeom>
          <a:noFill/>
          <a:ln/>
        </p:spPr>
        <p:txBody>
          <a:bodyPr wrap="square" lIns="0" tIns="0" rIns="0" bIns="0" rtlCol="0" anchor="ctr"/>
          <a:lstStyle/>
          <a:p>
            <a:pPr marL="0" indent="0" algn="ctr">
              <a:buNone/>
            </a:pPr>
            <a:r>
              <a:rPr lang="en-US" sz="1300" b="1" dirty="0">
                <a:solidFill>
                  <a:srgbClr val="0E7490"/>
                </a:solidFill>
                <a:latin typeface="Calibri" pitchFamily="34" charset="0"/>
                <a:ea typeface="Calibri" pitchFamily="34" charset="-122"/>
                <a:cs typeface="Calibri" pitchFamily="34" charset="-120"/>
              </a:rPr>
              <a:t>Task Status</a:t>
            </a:r>
            <a:endParaRPr lang="en-US" sz="1300" dirty="0"/>
          </a:p>
        </p:txBody>
      </p:sp>
      <p:sp>
        <p:nvSpPr>
          <p:cNvPr id="29" name="Shape 26"/>
          <p:cNvSpPr/>
          <p:nvPr/>
        </p:nvSpPr>
        <p:spPr>
          <a:xfrm>
            <a:off x="6766560" y="3566160"/>
            <a:ext cx="1920240" cy="640080"/>
          </a:xfrm>
          <a:prstGeom prst="roundRect">
            <a:avLst>
              <a:gd name="adj" fmla="val 11429"/>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30" name="Text 27"/>
          <p:cNvSpPr txBox="1"/>
          <p:nvPr/>
        </p:nvSpPr>
        <p:spPr>
          <a:xfrm>
            <a:off x="6766560" y="3566160"/>
            <a:ext cx="1920240" cy="640080"/>
          </a:xfrm>
          <a:prstGeom prst="rect">
            <a:avLst/>
          </a:prstGeom>
          <a:noFill/>
          <a:ln/>
        </p:spPr>
        <p:txBody>
          <a:bodyPr wrap="square" lIns="0" tIns="0" rIns="0" bIns="0" rtlCol="0" anchor="ctr"/>
          <a:lstStyle/>
          <a:p>
            <a:pPr marL="0" indent="0" algn="ctr">
              <a:buNone/>
            </a:pPr>
            <a:r>
              <a:rPr lang="en-US" sz="1300" b="1" dirty="0">
                <a:solidFill>
                  <a:srgbClr val="0E7490"/>
                </a:solidFill>
                <a:latin typeface="Calibri" pitchFamily="34" charset="0"/>
                <a:ea typeface="Calibri" pitchFamily="34" charset="-122"/>
                <a:cs typeface="Calibri" pitchFamily="34" charset="-120"/>
              </a:rPr>
              <a:t>Recharts Charts</a:t>
            </a:r>
            <a:endParaRPr lang="en-US" sz="1300" dirty="0"/>
          </a:p>
        </p:txBody>
      </p:sp>
      <p:sp>
        <p:nvSpPr>
          <p:cNvPr id="31" name="Text 28"/>
          <p:cNvSpPr txBox="1"/>
          <p:nvPr/>
        </p:nvSpPr>
        <p:spPr>
          <a:xfrm>
            <a:off x="457200" y="4389120"/>
            <a:ext cx="457200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React + Vite  ·  Axios  ·  Recharts</a:t>
            </a:r>
            <a:endParaRPr lang="en-US" sz="12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C641D925-7AF6-C7E4-3D08-730453B583C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3FF249C-D7AE-FD60-35B1-D17D321905A2}"/>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rPr>
              <a:t>Screenshots</a:t>
            </a:r>
            <a:endParaRPr lang="en-US" sz="2800" dirty="0"/>
          </a:p>
        </p:txBody>
      </p:sp>
      <p:sp>
        <p:nvSpPr>
          <p:cNvPr id="3" name="Text 1">
            <a:extLst>
              <a:ext uri="{FF2B5EF4-FFF2-40B4-BE49-F238E27FC236}">
                <a16:creationId xmlns:a16="http://schemas.microsoft.com/office/drawing/2014/main" id="{2CA5023B-789F-FD9E-4BFC-DFA1C1518751}"/>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116088E3-E641-BDE1-575F-16C03D3F0F19}"/>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13</a:t>
            </a:fld>
            <a:endParaRPr lang="en-US"/>
          </a:p>
        </p:txBody>
      </p:sp>
      <p:pic>
        <p:nvPicPr>
          <p:cNvPr id="6" name="Picture 5">
            <a:extLst>
              <a:ext uri="{FF2B5EF4-FFF2-40B4-BE49-F238E27FC236}">
                <a16:creationId xmlns:a16="http://schemas.microsoft.com/office/drawing/2014/main" id="{04D5F725-70F5-C131-1ECF-125101DB7FF0}"/>
              </a:ext>
            </a:extLst>
          </p:cNvPr>
          <p:cNvPicPr>
            <a:picLocks noChangeAspect="1"/>
          </p:cNvPicPr>
          <p:nvPr/>
        </p:nvPicPr>
        <p:blipFill>
          <a:blip r:embed="rId3"/>
          <a:stretch>
            <a:fillRect/>
          </a:stretch>
        </p:blipFill>
        <p:spPr>
          <a:xfrm>
            <a:off x="1606685" y="859681"/>
            <a:ext cx="5930630" cy="3706644"/>
          </a:xfrm>
          <a:prstGeom prst="rect">
            <a:avLst/>
          </a:prstGeom>
        </p:spPr>
      </p:pic>
    </p:spTree>
    <p:extLst>
      <p:ext uri="{BB962C8B-B14F-4D97-AF65-F5344CB8AC3E}">
        <p14:creationId xmlns:p14="http://schemas.microsoft.com/office/powerpoint/2010/main" val="2000580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D624955F-951C-18FE-29D5-6140EEABDA2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686F78-8FF1-50F9-C65F-9086502C9098}"/>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rPr>
              <a:t>Screenshots</a:t>
            </a:r>
            <a:endParaRPr lang="en-US" sz="2800" dirty="0"/>
          </a:p>
        </p:txBody>
      </p:sp>
      <p:sp>
        <p:nvSpPr>
          <p:cNvPr id="3" name="Text 1">
            <a:extLst>
              <a:ext uri="{FF2B5EF4-FFF2-40B4-BE49-F238E27FC236}">
                <a16:creationId xmlns:a16="http://schemas.microsoft.com/office/drawing/2014/main" id="{BEFD0218-CC5D-F826-F15E-5E81A3EF784A}"/>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FF6607F5-5EA2-B8DD-A564-071BFFA74FED}"/>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defRPr>
            </a:lvl1pPr>
          </a:lstStyle>
          <a:p>
            <a:pPr algn="r"/>
            <a:fld id="{F7021451-1387-4CA6-816F-3879F97B5CBC}" type="slidenum">
              <a:rPr lang="en-US" b="0"/>
              <a:t>14</a:t>
            </a:fld>
            <a:endParaRPr lang="en-US"/>
          </a:p>
        </p:txBody>
      </p:sp>
      <p:pic>
        <p:nvPicPr>
          <p:cNvPr id="9" name="Picture 8">
            <a:extLst>
              <a:ext uri="{FF2B5EF4-FFF2-40B4-BE49-F238E27FC236}">
                <a16:creationId xmlns:a16="http://schemas.microsoft.com/office/drawing/2014/main" id="{A680E704-B18E-DA5C-2380-C92F0CAC3FE0}"/>
              </a:ext>
            </a:extLst>
          </p:cNvPr>
          <p:cNvPicPr>
            <a:picLocks noChangeAspect="1"/>
          </p:cNvPicPr>
          <p:nvPr/>
        </p:nvPicPr>
        <p:blipFill>
          <a:blip r:embed="rId3"/>
          <a:stretch>
            <a:fillRect/>
          </a:stretch>
        </p:blipFill>
        <p:spPr>
          <a:xfrm>
            <a:off x="1258214" y="987551"/>
            <a:ext cx="6039226" cy="3298927"/>
          </a:xfrm>
          <a:prstGeom prst="rect">
            <a:avLst/>
          </a:prstGeom>
        </p:spPr>
      </p:pic>
    </p:spTree>
    <p:extLst>
      <p:ext uri="{BB962C8B-B14F-4D97-AF65-F5344CB8AC3E}">
        <p14:creationId xmlns:p14="http://schemas.microsoft.com/office/powerpoint/2010/main" val="3378705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E7F0B7F0-5985-7F78-E7AC-1AB79862D88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7C23FA-5BBF-9FE0-3DBF-134C4C373009}"/>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rPr>
              <a:t>Screenshots</a:t>
            </a:r>
            <a:endParaRPr lang="en-US" sz="2800" dirty="0"/>
          </a:p>
        </p:txBody>
      </p:sp>
      <p:sp>
        <p:nvSpPr>
          <p:cNvPr id="3" name="Text 1">
            <a:extLst>
              <a:ext uri="{FF2B5EF4-FFF2-40B4-BE49-F238E27FC236}">
                <a16:creationId xmlns:a16="http://schemas.microsoft.com/office/drawing/2014/main" id="{6626EF21-7CC9-B71A-EE41-FC9CB8921436}"/>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B042F7CC-D995-3701-AE36-CAA07ADCA34F}"/>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15</a:t>
            </a:fld>
            <a:endParaRPr lang="en-US"/>
          </a:p>
        </p:txBody>
      </p:sp>
      <p:pic>
        <p:nvPicPr>
          <p:cNvPr id="6" name="Picture 5">
            <a:extLst>
              <a:ext uri="{FF2B5EF4-FFF2-40B4-BE49-F238E27FC236}">
                <a16:creationId xmlns:a16="http://schemas.microsoft.com/office/drawing/2014/main" id="{CCF7B2C3-9CCB-C872-FB87-1041051006FD}"/>
              </a:ext>
            </a:extLst>
          </p:cNvPr>
          <p:cNvPicPr>
            <a:picLocks noChangeAspect="1"/>
          </p:cNvPicPr>
          <p:nvPr/>
        </p:nvPicPr>
        <p:blipFill>
          <a:blip r:embed="rId3"/>
          <a:stretch>
            <a:fillRect/>
          </a:stretch>
        </p:blipFill>
        <p:spPr>
          <a:xfrm>
            <a:off x="1183532" y="803067"/>
            <a:ext cx="6352162" cy="3970101"/>
          </a:xfrm>
          <a:prstGeom prst="rect">
            <a:avLst/>
          </a:prstGeom>
        </p:spPr>
      </p:pic>
    </p:spTree>
    <p:extLst>
      <p:ext uri="{BB962C8B-B14F-4D97-AF65-F5344CB8AC3E}">
        <p14:creationId xmlns:p14="http://schemas.microsoft.com/office/powerpoint/2010/main" val="762151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914D9432-38C2-4054-02CC-66119CB791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B9853E5-5134-B0E0-595D-C1D6B4770554}"/>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rPr>
              <a:t>Screenshots</a:t>
            </a:r>
            <a:endParaRPr lang="en-US" sz="2800" dirty="0"/>
          </a:p>
        </p:txBody>
      </p:sp>
      <p:sp>
        <p:nvSpPr>
          <p:cNvPr id="3" name="Text 1">
            <a:extLst>
              <a:ext uri="{FF2B5EF4-FFF2-40B4-BE49-F238E27FC236}">
                <a16:creationId xmlns:a16="http://schemas.microsoft.com/office/drawing/2014/main" id="{EA0A077E-28D1-D7AA-97D8-ABF0CDF118D6}"/>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E1F85BEA-2B34-93D9-435E-4CCD1972A7FB}"/>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defRPr>
            </a:lvl1pPr>
          </a:lstStyle>
          <a:p>
            <a:pPr algn="r"/>
            <a:fld id="{F7021451-1387-4CA6-816F-3879F97B5CBC}" type="slidenum">
              <a:rPr lang="en-US" b="0"/>
              <a:t>16</a:t>
            </a:fld>
            <a:endParaRPr lang="en-US"/>
          </a:p>
        </p:txBody>
      </p:sp>
      <p:pic>
        <p:nvPicPr>
          <p:cNvPr id="7" name="Picture 6">
            <a:extLst>
              <a:ext uri="{FF2B5EF4-FFF2-40B4-BE49-F238E27FC236}">
                <a16:creationId xmlns:a16="http://schemas.microsoft.com/office/drawing/2014/main" id="{D9C7AF28-1D1F-3773-2E8E-1B8153455860}"/>
              </a:ext>
            </a:extLst>
          </p:cNvPr>
          <p:cNvPicPr>
            <a:picLocks noChangeAspect="1"/>
          </p:cNvPicPr>
          <p:nvPr/>
        </p:nvPicPr>
        <p:blipFill>
          <a:blip r:embed="rId3"/>
          <a:srcRect r="1749"/>
          <a:stretch>
            <a:fillRect/>
          </a:stretch>
        </p:blipFill>
        <p:spPr>
          <a:xfrm>
            <a:off x="1700442" y="811479"/>
            <a:ext cx="5329465" cy="3390189"/>
          </a:xfrm>
          <a:prstGeom prst="rect">
            <a:avLst/>
          </a:prstGeom>
        </p:spPr>
      </p:pic>
      <p:pic>
        <p:nvPicPr>
          <p:cNvPr id="11" name="Picture 10">
            <a:extLst>
              <a:ext uri="{FF2B5EF4-FFF2-40B4-BE49-F238E27FC236}">
                <a16:creationId xmlns:a16="http://schemas.microsoft.com/office/drawing/2014/main" id="{9B599E8B-1A3A-972D-AC9D-75E5C1D7C791}"/>
              </a:ext>
            </a:extLst>
          </p:cNvPr>
          <p:cNvPicPr>
            <a:picLocks noChangeAspect="1"/>
          </p:cNvPicPr>
          <p:nvPr/>
        </p:nvPicPr>
        <p:blipFill>
          <a:blip r:embed="rId4"/>
          <a:srcRect r="1784"/>
          <a:stretch>
            <a:fillRect/>
          </a:stretch>
        </p:blipFill>
        <p:spPr>
          <a:xfrm>
            <a:off x="1700442" y="3374136"/>
            <a:ext cx="5329465" cy="1371600"/>
          </a:xfrm>
          <a:prstGeom prst="rect">
            <a:avLst/>
          </a:prstGeom>
        </p:spPr>
      </p:pic>
    </p:spTree>
    <p:extLst>
      <p:ext uri="{BB962C8B-B14F-4D97-AF65-F5344CB8AC3E}">
        <p14:creationId xmlns:p14="http://schemas.microsoft.com/office/powerpoint/2010/main" val="2454469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AWS S3 Cloud Storage</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Text 2"/>
          <p:cNvSpPr txBox="1"/>
          <p:nvPr/>
        </p:nvSpPr>
        <p:spPr>
          <a:xfrm>
            <a:off x="457200" y="2011680"/>
            <a:ext cx="1920240" cy="1280160"/>
          </a:xfrm>
          <a:prstGeom prst="roundRect">
            <a:avLst>
              <a:gd name="adj" fmla="val 5714"/>
            </a:avLst>
          </a:prstGeom>
          <a:solidFill>
            <a:srgbClr val="12305A"/>
          </a:solidFill>
          <a:ln/>
        </p:spPr>
        <p:txBody>
          <a:bodyPr wrap="square" lIns="635" tIns="635" rIns="635" bIns="635"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FastAPI backend</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 Boto3</a:t>
            </a:r>
            <a:endParaRPr lang="en-US" sz="1400" dirty="0"/>
          </a:p>
        </p:txBody>
      </p:sp>
      <p:sp>
        <p:nvSpPr>
          <p:cNvPr id="6" name="Shape 3"/>
          <p:cNvSpPr/>
          <p:nvPr/>
        </p:nvSpPr>
        <p:spPr>
          <a:xfrm>
            <a:off x="2377440" y="2651760"/>
            <a:ext cx="365760" cy="0"/>
          </a:xfrm>
          <a:prstGeom prst="line">
            <a:avLst/>
          </a:prstGeom>
          <a:noFill/>
          <a:ln w="25400">
            <a:solidFill>
              <a:srgbClr val="06B6D4"/>
            </a:solidFill>
            <a:prstDash val="solid"/>
            <a:tailEnd type="triangle"/>
          </a:ln>
        </p:spPr>
      </p:sp>
      <p:sp>
        <p:nvSpPr>
          <p:cNvPr id="7" name="Shape 4"/>
          <p:cNvSpPr/>
          <p:nvPr/>
        </p:nvSpPr>
        <p:spPr>
          <a:xfrm>
            <a:off x="2743200" y="1097280"/>
            <a:ext cx="2286000" cy="3291840"/>
          </a:xfrm>
          <a:prstGeom prst="roundRect">
            <a:avLst>
              <a:gd name="adj" fmla="val 3200"/>
            </a:avLst>
          </a:prstGeom>
          <a:solidFill>
            <a:srgbClr val="0B1F3A"/>
          </a:solidFill>
          <a:ln w="12700">
            <a:solidFill>
              <a:srgbClr val="0B1F3A"/>
            </a:solidFill>
            <a:prstDash val="solid"/>
          </a:ln>
          <a:effectLst>
            <a:outerShdw blurRad="76200" dist="25400" dir="5400000" algn="bl" rotWithShape="0">
              <a:srgbClr val="0B1F3A">
                <a:alpha val="12000"/>
              </a:srgbClr>
            </a:outerShdw>
          </a:effectLst>
        </p:spPr>
      </p:sp>
      <p:sp>
        <p:nvSpPr>
          <p:cNvPr id="8" name="Text 5"/>
          <p:cNvSpPr txBox="1"/>
          <p:nvPr/>
        </p:nvSpPr>
        <p:spPr>
          <a:xfrm>
            <a:off x="2880360" y="1371600"/>
            <a:ext cx="2011680" cy="457200"/>
          </a:xfrm>
          <a:prstGeom prst="rect">
            <a:avLst/>
          </a:prstGeom>
          <a:noFill/>
          <a:ln/>
        </p:spPr>
        <p:txBody>
          <a:bodyPr wrap="square" lIns="0" tIns="0" rIns="0" bIns="0" rtlCol="0" anchor="t"/>
          <a:lstStyle/>
          <a:p>
            <a:pPr marL="0" indent="0" algn="ctr">
              <a:buNone/>
            </a:pPr>
            <a:r>
              <a:rPr lang="en-US" sz="2400" b="1" dirty="0">
                <a:solidFill>
                  <a:srgbClr val="06B6D4"/>
                </a:solidFill>
                <a:latin typeface="Cambria" pitchFamily="34" charset="0"/>
                <a:ea typeface="Cambria" pitchFamily="34" charset="-122"/>
                <a:cs typeface="Cambria" pitchFamily="34" charset="-120"/>
              </a:rPr>
              <a:t>AWS S3</a:t>
            </a:r>
            <a:endParaRPr lang="en-US" sz="2400" dirty="0"/>
          </a:p>
        </p:txBody>
      </p:sp>
      <p:sp>
        <p:nvSpPr>
          <p:cNvPr id="9" name="Text 6"/>
          <p:cNvSpPr txBox="1"/>
          <p:nvPr/>
        </p:nvSpPr>
        <p:spPr>
          <a:xfrm>
            <a:off x="2880360" y="2103120"/>
            <a:ext cx="2011680" cy="274320"/>
          </a:xfrm>
          <a:prstGeom prst="rect">
            <a:avLst/>
          </a:prstGeom>
          <a:noFill/>
          <a:ln/>
        </p:spPr>
        <p:txBody>
          <a:bodyPr wrap="square" lIns="0" tIns="0" rIns="0" bIns="0" rtlCol="0" anchor="t"/>
          <a:lstStyle/>
          <a:p>
            <a:pPr marL="0" indent="0" algn="ctr">
              <a:buNone/>
            </a:pPr>
            <a:r>
              <a:rPr lang="en-US" sz="1200" dirty="0">
                <a:solidFill>
                  <a:srgbClr val="CFE8F2"/>
                </a:solidFill>
                <a:latin typeface="Calibri" pitchFamily="34" charset="0"/>
                <a:ea typeface="Calibri" pitchFamily="34" charset="-122"/>
                <a:cs typeface="Calibri" pitchFamily="34" charset="-120"/>
              </a:rPr>
              <a:t>Bucket</a:t>
            </a:r>
            <a:endParaRPr lang="en-US" sz="1200" dirty="0"/>
          </a:p>
        </p:txBody>
      </p:sp>
      <p:sp>
        <p:nvSpPr>
          <p:cNvPr id="10" name="Text 7"/>
          <p:cNvSpPr txBox="1"/>
          <p:nvPr/>
        </p:nvSpPr>
        <p:spPr>
          <a:xfrm>
            <a:off x="2880360" y="2377440"/>
            <a:ext cx="2011680" cy="640080"/>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container-resource-optimization</a:t>
            </a:r>
            <a:endParaRPr lang="en-US" sz="1400" dirty="0"/>
          </a:p>
        </p:txBody>
      </p:sp>
      <p:sp>
        <p:nvSpPr>
          <p:cNvPr id="11" name="Text 8"/>
          <p:cNvSpPr txBox="1"/>
          <p:nvPr/>
        </p:nvSpPr>
        <p:spPr>
          <a:xfrm>
            <a:off x="2880360" y="3108960"/>
            <a:ext cx="2011680" cy="274320"/>
          </a:xfrm>
          <a:prstGeom prst="rect">
            <a:avLst/>
          </a:prstGeom>
          <a:noFill/>
          <a:ln/>
        </p:spPr>
        <p:txBody>
          <a:bodyPr wrap="square" lIns="0" tIns="0" rIns="0" bIns="0" rtlCol="0" anchor="t"/>
          <a:lstStyle/>
          <a:p>
            <a:pPr marL="0" indent="0" algn="ctr">
              <a:buNone/>
            </a:pPr>
            <a:r>
              <a:rPr lang="en-US" sz="1200" dirty="0">
                <a:solidFill>
                  <a:srgbClr val="CFE8F2"/>
                </a:solidFill>
                <a:latin typeface="Calibri" pitchFamily="34" charset="0"/>
                <a:ea typeface="Calibri" pitchFamily="34" charset="-122"/>
                <a:cs typeface="Calibri" pitchFamily="34" charset="-120"/>
              </a:rPr>
              <a:t>Region</a:t>
            </a:r>
            <a:endParaRPr lang="en-US" sz="1200" dirty="0"/>
          </a:p>
        </p:txBody>
      </p:sp>
      <p:sp>
        <p:nvSpPr>
          <p:cNvPr id="12" name="Text 9"/>
          <p:cNvSpPr txBox="1"/>
          <p:nvPr/>
        </p:nvSpPr>
        <p:spPr>
          <a:xfrm>
            <a:off x="2880360" y="3383280"/>
            <a:ext cx="2011680" cy="365760"/>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ap-southeast-2 (Sydney)</a:t>
            </a:r>
            <a:endParaRPr lang="en-US" sz="1400" dirty="0"/>
          </a:p>
        </p:txBody>
      </p:sp>
      <p:sp>
        <p:nvSpPr>
          <p:cNvPr id="13" name="Shape 10"/>
          <p:cNvSpPr/>
          <p:nvPr/>
        </p:nvSpPr>
        <p:spPr>
          <a:xfrm>
            <a:off x="5029200" y="2651760"/>
            <a:ext cx="365760" cy="0"/>
          </a:xfrm>
          <a:prstGeom prst="line">
            <a:avLst/>
          </a:prstGeom>
          <a:noFill/>
          <a:ln w="25400">
            <a:solidFill>
              <a:srgbClr val="06B6D4"/>
            </a:solidFill>
            <a:prstDash val="solid"/>
            <a:tailEnd type="triangle"/>
          </a:ln>
        </p:spPr>
      </p:sp>
      <p:sp>
        <p:nvSpPr>
          <p:cNvPr id="14" name="Shape 11"/>
          <p:cNvSpPr/>
          <p:nvPr/>
        </p:nvSpPr>
        <p:spPr>
          <a:xfrm>
            <a:off x="5394960" y="1097280"/>
            <a:ext cx="3291840" cy="731520"/>
          </a:xfrm>
          <a:prstGeom prst="roundRect">
            <a:avLst>
              <a:gd name="adj" fmla="val 10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5" name="Text 12"/>
          <p:cNvSpPr txBox="1"/>
          <p:nvPr/>
        </p:nvSpPr>
        <p:spPr>
          <a:xfrm>
            <a:off x="5577840" y="1188720"/>
            <a:ext cx="3017520" cy="27432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processed/</a:t>
            </a:r>
            <a:endParaRPr lang="en-US" sz="1400" dirty="0"/>
          </a:p>
        </p:txBody>
      </p:sp>
      <p:sp>
        <p:nvSpPr>
          <p:cNvPr id="16" name="Text 13"/>
          <p:cNvSpPr txBox="1"/>
          <p:nvPr/>
        </p:nvSpPr>
        <p:spPr>
          <a:xfrm>
            <a:off x="5577840" y="1508760"/>
            <a:ext cx="301752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Processed dataset</a:t>
            </a:r>
            <a:endParaRPr lang="en-US" sz="1200" dirty="0"/>
          </a:p>
        </p:txBody>
      </p:sp>
      <p:sp>
        <p:nvSpPr>
          <p:cNvPr id="17" name="Shape 14"/>
          <p:cNvSpPr/>
          <p:nvPr/>
        </p:nvSpPr>
        <p:spPr>
          <a:xfrm>
            <a:off x="5394960" y="1965960"/>
            <a:ext cx="3291840" cy="731520"/>
          </a:xfrm>
          <a:prstGeom prst="roundRect">
            <a:avLst>
              <a:gd name="adj" fmla="val 10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8" name="Text 15"/>
          <p:cNvSpPr txBox="1"/>
          <p:nvPr/>
        </p:nvSpPr>
        <p:spPr>
          <a:xfrm>
            <a:off x="5577840" y="2057400"/>
            <a:ext cx="3017520" cy="27432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predictions/</a:t>
            </a:r>
            <a:endParaRPr lang="en-US" sz="1400" dirty="0"/>
          </a:p>
        </p:txBody>
      </p:sp>
      <p:sp>
        <p:nvSpPr>
          <p:cNvPr id="19" name="Text 16"/>
          <p:cNvSpPr txBox="1"/>
          <p:nvPr/>
        </p:nvSpPr>
        <p:spPr>
          <a:xfrm>
            <a:off x="5577840" y="2377440"/>
            <a:ext cx="301752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CPU &amp; memory predictions</a:t>
            </a:r>
            <a:endParaRPr lang="en-US" sz="1200" dirty="0"/>
          </a:p>
        </p:txBody>
      </p:sp>
      <p:sp>
        <p:nvSpPr>
          <p:cNvPr id="20" name="Shape 17"/>
          <p:cNvSpPr/>
          <p:nvPr/>
        </p:nvSpPr>
        <p:spPr>
          <a:xfrm>
            <a:off x="5394960" y="2834640"/>
            <a:ext cx="3291840" cy="731520"/>
          </a:xfrm>
          <a:prstGeom prst="roundRect">
            <a:avLst>
              <a:gd name="adj" fmla="val 10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1" name="Text 18"/>
          <p:cNvSpPr txBox="1"/>
          <p:nvPr/>
        </p:nvSpPr>
        <p:spPr>
          <a:xfrm>
            <a:off x="5577840" y="2926080"/>
            <a:ext cx="3017520" cy="27432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allocations/</a:t>
            </a:r>
            <a:endParaRPr lang="en-US" sz="1400" dirty="0"/>
          </a:p>
        </p:txBody>
      </p:sp>
      <p:sp>
        <p:nvSpPr>
          <p:cNvPr id="22" name="Text 19"/>
          <p:cNvSpPr txBox="1"/>
          <p:nvPr/>
        </p:nvSpPr>
        <p:spPr>
          <a:xfrm>
            <a:off x="5577840" y="3246120"/>
            <a:ext cx="301752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Resource allocation results</a:t>
            </a:r>
            <a:endParaRPr lang="en-US" sz="1200" dirty="0"/>
          </a:p>
        </p:txBody>
      </p:sp>
      <p:sp>
        <p:nvSpPr>
          <p:cNvPr id="23" name="Shape 20"/>
          <p:cNvSpPr/>
          <p:nvPr/>
        </p:nvSpPr>
        <p:spPr>
          <a:xfrm>
            <a:off x="5394960" y="3703320"/>
            <a:ext cx="3291840" cy="731520"/>
          </a:xfrm>
          <a:prstGeom prst="roundRect">
            <a:avLst>
              <a:gd name="adj" fmla="val 100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24" name="Text 21"/>
          <p:cNvSpPr txBox="1"/>
          <p:nvPr/>
        </p:nvSpPr>
        <p:spPr>
          <a:xfrm>
            <a:off x="5577840" y="3794760"/>
            <a:ext cx="3017520" cy="274320"/>
          </a:xfrm>
          <a:prstGeom prst="rect">
            <a:avLst/>
          </a:prstGeom>
          <a:noFill/>
          <a:ln/>
        </p:spPr>
        <p:txBody>
          <a:bodyPr wrap="square" lIns="0" tIns="0" rIns="0" bIns="0" rtlCol="0" anchor="t"/>
          <a:lstStyle/>
          <a:p>
            <a:pPr marL="0" indent="0">
              <a:buNone/>
            </a:pPr>
            <a:r>
              <a:rPr lang="en-US" sz="1400" b="1" dirty="0">
                <a:solidFill>
                  <a:srgbClr val="0E7490"/>
                </a:solidFill>
                <a:latin typeface="Cambria" pitchFamily="34" charset="0"/>
                <a:ea typeface="Cambria" pitchFamily="34" charset="-122"/>
                <a:cs typeface="Cambria" pitchFamily="34" charset="-120"/>
              </a:rPr>
              <a:t>models/</a:t>
            </a:r>
            <a:endParaRPr lang="en-US" sz="1400" dirty="0"/>
          </a:p>
        </p:txBody>
      </p:sp>
      <p:sp>
        <p:nvSpPr>
          <p:cNvPr id="25" name="Text 22"/>
          <p:cNvSpPr txBox="1"/>
          <p:nvPr/>
        </p:nvSpPr>
        <p:spPr>
          <a:xfrm>
            <a:off x="5577840" y="4114800"/>
            <a:ext cx="301752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Trained CPU &amp; memory models</a:t>
            </a:r>
            <a:endParaRPr lang="en-US" sz="12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8B557B7D-0397-E2F4-BACA-19E42D14B0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F101CEB-65EB-2611-2E70-D11F183DEA51}"/>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Screenshot of AWS</a:t>
            </a:r>
            <a:endParaRPr lang="en-US" sz="2800" dirty="0"/>
          </a:p>
        </p:txBody>
      </p:sp>
      <p:sp>
        <p:nvSpPr>
          <p:cNvPr id="3" name="Text 1">
            <a:extLst>
              <a:ext uri="{FF2B5EF4-FFF2-40B4-BE49-F238E27FC236}">
                <a16:creationId xmlns:a16="http://schemas.microsoft.com/office/drawing/2014/main" id="{422B7495-83E7-6F41-8970-FA221451ED15}"/>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5C2753CE-90BC-C629-D0EA-80A38FCBEBFD}"/>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4748B"/>
                </a:solidFill>
              </a:defRPr>
            </a:lvl1pPr>
          </a:lstStyle>
          <a:p>
            <a:pPr algn="r"/>
            <a:fld id="{F7021451-1387-4CA6-816F-3879F97B5CBC}" type="slidenum">
              <a:rPr lang="en-US" b="0"/>
              <a:t>18</a:t>
            </a:fld>
            <a:endParaRPr lang="en-US"/>
          </a:p>
        </p:txBody>
      </p:sp>
      <p:sp>
        <p:nvSpPr>
          <p:cNvPr id="28" name="TextBox 27">
            <a:extLst>
              <a:ext uri="{FF2B5EF4-FFF2-40B4-BE49-F238E27FC236}">
                <a16:creationId xmlns:a16="http://schemas.microsoft.com/office/drawing/2014/main" id="{2E748B8C-FFED-1D92-98C1-0358C697832A}"/>
              </a:ext>
            </a:extLst>
          </p:cNvPr>
          <p:cNvSpPr txBox="1"/>
          <p:nvPr/>
        </p:nvSpPr>
        <p:spPr>
          <a:xfrm>
            <a:off x="1151107" y="1697350"/>
            <a:ext cx="184731" cy="646331"/>
          </a:xfrm>
          <a:prstGeom prst="rect">
            <a:avLst/>
          </a:prstGeom>
          <a:noFill/>
        </p:spPr>
        <p:txBody>
          <a:bodyPr wrap="none" rtlCol="0">
            <a:spAutoFit/>
          </a:bodyPr>
          <a:lstStyle/>
          <a:p>
            <a:endParaRPr lang="en-IN" dirty="0"/>
          </a:p>
          <a:p>
            <a:endParaRPr lang="en-IN" dirty="0"/>
          </a:p>
        </p:txBody>
      </p:sp>
      <p:pic>
        <p:nvPicPr>
          <p:cNvPr id="6" name="Picture 5">
            <a:extLst>
              <a:ext uri="{FF2B5EF4-FFF2-40B4-BE49-F238E27FC236}">
                <a16:creationId xmlns:a16="http://schemas.microsoft.com/office/drawing/2014/main" id="{30F4E949-28E6-283B-74D1-892042ADAA7E}"/>
              </a:ext>
            </a:extLst>
          </p:cNvPr>
          <p:cNvPicPr>
            <a:picLocks noChangeAspect="1"/>
          </p:cNvPicPr>
          <p:nvPr/>
        </p:nvPicPr>
        <p:blipFill>
          <a:blip r:embed="rId3"/>
          <a:stretch>
            <a:fillRect/>
          </a:stretch>
        </p:blipFill>
        <p:spPr>
          <a:xfrm>
            <a:off x="71674" y="1134037"/>
            <a:ext cx="4397914" cy="3555919"/>
          </a:xfrm>
          <a:prstGeom prst="rect">
            <a:avLst/>
          </a:prstGeom>
        </p:spPr>
      </p:pic>
      <p:pic>
        <p:nvPicPr>
          <p:cNvPr id="8" name="Picture 7">
            <a:extLst>
              <a:ext uri="{FF2B5EF4-FFF2-40B4-BE49-F238E27FC236}">
                <a16:creationId xmlns:a16="http://schemas.microsoft.com/office/drawing/2014/main" id="{287123D3-7B92-A2AD-0A30-6FF820720399}"/>
              </a:ext>
            </a:extLst>
          </p:cNvPr>
          <p:cNvPicPr>
            <a:picLocks noChangeAspect="1"/>
          </p:cNvPicPr>
          <p:nvPr/>
        </p:nvPicPr>
        <p:blipFill>
          <a:blip r:embed="rId4"/>
          <a:stretch>
            <a:fillRect/>
          </a:stretch>
        </p:blipFill>
        <p:spPr>
          <a:xfrm>
            <a:off x="4572000" y="1134038"/>
            <a:ext cx="4500326" cy="3555918"/>
          </a:xfrm>
          <a:prstGeom prst="rect">
            <a:avLst/>
          </a:prstGeom>
        </p:spPr>
      </p:pic>
    </p:spTree>
    <p:extLst>
      <p:ext uri="{BB962C8B-B14F-4D97-AF65-F5344CB8AC3E}">
        <p14:creationId xmlns:p14="http://schemas.microsoft.com/office/powerpoint/2010/main" val="35754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EF92E107-A513-ADC3-5555-4EC1C5A2F7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56751E-D58C-89FB-C00B-A65C1DE3EF51}"/>
              </a:ext>
            </a:extLst>
          </p:cNvPr>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Screenshot of AWS</a:t>
            </a:r>
            <a:endParaRPr lang="en-US" sz="2800" dirty="0"/>
          </a:p>
        </p:txBody>
      </p:sp>
      <p:sp>
        <p:nvSpPr>
          <p:cNvPr id="3" name="Text 1">
            <a:extLst>
              <a:ext uri="{FF2B5EF4-FFF2-40B4-BE49-F238E27FC236}">
                <a16:creationId xmlns:a16="http://schemas.microsoft.com/office/drawing/2014/main" id="{25FC346A-233F-08DD-96F6-CF62E1FACA6F}"/>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0F6F57B2-12D3-178F-B71E-9D5065A06500}"/>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19</a:t>
            </a:fld>
            <a:endParaRPr lang="en-US"/>
          </a:p>
        </p:txBody>
      </p:sp>
      <p:sp>
        <p:nvSpPr>
          <p:cNvPr id="28" name="TextBox 27">
            <a:extLst>
              <a:ext uri="{FF2B5EF4-FFF2-40B4-BE49-F238E27FC236}">
                <a16:creationId xmlns:a16="http://schemas.microsoft.com/office/drawing/2014/main" id="{3CE2789A-FDFB-30EC-2BB5-F512C8609A9F}"/>
              </a:ext>
            </a:extLst>
          </p:cNvPr>
          <p:cNvSpPr txBox="1"/>
          <p:nvPr/>
        </p:nvSpPr>
        <p:spPr>
          <a:xfrm>
            <a:off x="1151107" y="1697350"/>
            <a:ext cx="184731" cy="646331"/>
          </a:xfrm>
          <a:prstGeom prst="rect">
            <a:avLst/>
          </a:prstGeom>
          <a:noFill/>
        </p:spPr>
        <p:txBody>
          <a:bodyPr wrap="none" rtlCol="0">
            <a:spAutoFit/>
          </a:bodyPr>
          <a:lstStyle/>
          <a:p>
            <a:endParaRPr lang="en-IN" dirty="0"/>
          </a:p>
          <a:p>
            <a:endParaRPr lang="en-IN" dirty="0"/>
          </a:p>
        </p:txBody>
      </p:sp>
      <p:pic>
        <p:nvPicPr>
          <p:cNvPr id="7" name="Picture 6">
            <a:extLst>
              <a:ext uri="{FF2B5EF4-FFF2-40B4-BE49-F238E27FC236}">
                <a16:creationId xmlns:a16="http://schemas.microsoft.com/office/drawing/2014/main" id="{EC411B75-077D-A7E0-3BEC-3CDBC138DDAD}"/>
              </a:ext>
            </a:extLst>
          </p:cNvPr>
          <p:cNvPicPr>
            <a:picLocks noChangeAspect="1"/>
          </p:cNvPicPr>
          <p:nvPr/>
        </p:nvPicPr>
        <p:blipFill>
          <a:blip r:embed="rId3"/>
          <a:stretch>
            <a:fillRect/>
          </a:stretch>
        </p:blipFill>
        <p:spPr>
          <a:xfrm>
            <a:off x="285292" y="991438"/>
            <a:ext cx="6352551" cy="3732124"/>
          </a:xfrm>
          <a:prstGeom prst="rect">
            <a:avLst/>
          </a:prstGeom>
        </p:spPr>
      </p:pic>
    </p:spTree>
    <p:extLst>
      <p:ext uri="{BB962C8B-B14F-4D97-AF65-F5344CB8AC3E}">
        <p14:creationId xmlns:p14="http://schemas.microsoft.com/office/powerpoint/2010/main" val="2343761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11">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Results: Random Forest Performance</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Shape 2"/>
          <p:cNvSpPr/>
          <p:nvPr/>
        </p:nvSpPr>
        <p:spPr>
          <a:xfrm>
            <a:off x="457200" y="1097280"/>
            <a:ext cx="2560320" cy="1143000"/>
          </a:xfrm>
          <a:prstGeom prst="roundRect">
            <a:avLst>
              <a:gd name="adj" fmla="val 64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6" name="Text 3"/>
          <p:cNvSpPr txBox="1"/>
          <p:nvPr/>
        </p:nvSpPr>
        <p:spPr>
          <a:xfrm>
            <a:off x="457200" y="1188720"/>
            <a:ext cx="2560320" cy="594360"/>
          </a:xfrm>
          <a:prstGeom prst="rect">
            <a:avLst/>
          </a:prstGeom>
          <a:noFill/>
          <a:ln/>
        </p:spPr>
        <p:txBody>
          <a:bodyPr wrap="square" lIns="0" tIns="0" rIns="0" bIns="0" rtlCol="0" anchor="t"/>
          <a:lstStyle/>
          <a:p>
            <a:pPr marL="0" indent="0" algn="ctr">
              <a:buNone/>
            </a:pPr>
            <a:r>
              <a:rPr lang="en-US" sz="3200" b="1" dirty="0">
                <a:solidFill>
                  <a:srgbClr val="0E7490"/>
                </a:solidFill>
                <a:latin typeface="Cambria" pitchFamily="34" charset="0"/>
                <a:ea typeface="Cambria" pitchFamily="34" charset="-122"/>
                <a:cs typeface="Cambria" pitchFamily="34" charset="-120"/>
              </a:rPr>
              <a:t>200,240</a:t>
            </a:r>
            <a:endParaRPr lang="en-US" sz="3200" dirty="0"/>
          </a:p>
        </p:txBody>
      </p:sp>
      <p:sp>
        <p:nvSpPr>
          <p:cNvPr id="7" name="Text 4"/>
          <p:cNvSpPr txBox="1"/>
          <p:nvPr/>
        </p:nvSpPr>
        <p:spPr>
          <a:xfrm>
            <a:off x="457200" y="1783080"/>
            <a:ext cx="2560320" cy="32004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ML-ready rows</a:t>
            </a:r>
            <a:endParaRPr lang="en-US" sz="1200" dirty="0"/>
          </a:p>
        </p:txBody>
      </p:sp>
      <p:sp>
        <p:nvSpPr>
          <p:cNvPr id="8" name="Shape 5"/>
          <p:cNvSpPr/>
          <p:nvPr/>
        </p:nvSpPr>
        <p:spPr>
          <a:xfrm>
            <a:off x="3291840" y="1097280"/>
            <a:ext cx="2560320" cy="1143000"/>
          </a:xfrm>
          <a:prstGeom prst="roundRect">
            <a:avLst>
              <a:gd name="adj" fmla="val 64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9" name="Text 6"/>
          <p:cNvSpPr txBox="1"/>
          <p:nvPr/>
        </p:nvSpPr>
        <p:spPr>
          <a:xfrm>
            <a:off x="3291840" y="1188720"/>
            <a:ext cx="2560320" cy="594360"/>
          </a:xfrm>
          <a:prstGeom prst="rect">
            <a:avLst/>
          </a:prstGeom>
          <a:noFill/>
          <a:ln/>
        </p:spPr>
        <p:txBody>
          <a:bodyPr wrap="square" lIns="0" tIns="0" rIns="0" bIns="0" rtlCol="0" anchor="t"/>
          <a:lstStyle/>
          <a:p>
            <a:pPr marL="0" indent="0" algn="ctr">
              <a:buNone/>
            </a:pPr>
            <a:r>
              <a:rPr lang="en-US" sz="3200" b="1" dirty="0">
                <a:solidFill>
                  <a:srgbClr val="0E7490"/>
                </a:solidFill>
                <a:latin typeface="Cambria" pitchFamily="34" charset="0"/>
                <a:ea typeface="Cambria" pitchFamily="34" charset="-122"/>
                <a:cs typeface="Cambria" pitchFamily="34" charset="-120"/>
              </a:rPr>
              <a:t>2</a:t>
            </a:r>
            <a:endParaRPr lang="en-US" sz="3200" dirty="0"/>
          </a:p>
        </p:txBody>
      </p:sp>
      <p:sp>
        <p:nvSpPr>
          <p:cNvPr id="10" name="Text 7"/>
          <p:cNvSpPr txBox="1"/>
          <p:nvPr/>
        </p:nvSpPr>
        <p:spPr>
          <a:xfrm>
            <a:off x="3291840" y="1783080"/>
            <a:ext cx="2560320" cy="32004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Random Forest models</a:t>
            </a:r>
            <a:endParaRPr lang="en-US" sz="1200" dirty="0"/>
          </a:p>
        </p:txBody>
      </p:sp>
      <p:sp>
        <p:nvSpPr>
          <p:cNvPr id="11" name="Shape 8"/>
          <p:cNvSpPr/>
          <p:nvPr/>
        </p:nvSpPr>
        <p:spPr>
          <a:xfrm>
            <a:off x="6126480" y="1097280"/>
            <a:ext cx="2560320" cy="1143000"/>
          </a:xfrm>
          <a:prstGeom prst="roundRect">
            <a:avLst>
              <a:gd name="adj" fmla="val 6400"/>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12" name="Text 9"/>
          <p:cNvSpPr txBox="1"/>
          <p:nvPr/>
        </p:nvSpPr>
        <p:spPr>
          <a:xfrm>
            <a:off x="6126480" y="1188720"/>
            <a:ext cx="2560320" cy="594360"/>
          </a:xfrm>
          <a:prstGeom prst="rect">
            <a:avLst/>
          </a:prstGeom>
          <a:noFill/>
          <a:ln/>
        </p:spPr>
        <p:txBody>
          <a:bodyPr wrap="square" lIns="0" tIns="0" rIns="0" bIns="0" rtlCol="0" anchor="t"/>
          <a:lstStyle/>
          <a:p>
            <a:pPr marL="0" indent="0" algn="ctr">
              <a:buNone/>
            </a:pPr>
            <a:r>
              <a:rPr lang="en-US" sz="3200" b="1" dirty="0">
                <a:solidFill>
                  <a:srgbClr val="0E7490"/>
                </a:solidFill>
                <a:latin typeface="Cambria" pitchFamily="34" charset="0"/>
                <a:ea typeface="Cambria" pitchFamily="34" charset="-122"/>
                <a:cs typeface="Cambria" pitchFamily="34" charset="-120"/>
              </a:rPr>
              <a:t>80 / 20</a:t>
            </a:r>
            <a:endParaRPr lang="en-US" sz="3200" dirty="0"/>
          </a:p>
        </p:txBody>
      </p:sp>
      <p:sp>
        <p:nvSpPr>
          <p:cNvPr id="13" name="Text 10"/>
          <p:cNvSpPr txBox="1"/>
          <p:nvPr/>
        </p:nvSpPr>
        <p:spPr>
          <a:xfrm>
            <a:off x="6126480" y="1783080"/>
            <a:ext cx="2560320" cy="32004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Chronological train / test</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8229600" cy="1371600"/>
        </p:xfrm>
        <a:graphic>
          <a:graphicData uri="http://schemas.openxmlformats.org/drawingml/2006/table">
            <a:tbl>
              <a:tblPr/>
              <a:tblGrid>
                <a:gridCol w="2194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1F3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1F3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1F3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rgbClr val="1E293B"/>
                          </a:solidFill>
                          <a:latin typeface="Calibri" pitchFamily="34" charset="0"/>
                          <a:ea typeface="Calibri" pitchFamily="34" charset="-122"/>
                          <a:cs typeface="Calibri" pitchFamily="34" charset="-120"/>
                        </a:rPr>
                        <a:t>CPU</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0.0158</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0.0293</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0.1055</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rgbClr val="1E293B"/>
                          </a:solidFill>
                          <a:latin typeface="Calibri" pitchFamily="34" charset="0"/>
                          <a:ea typeface="Calibri" pitchFamily="34" charset="-122"/>
                          <a:cs typeface="Calibri" pitchFamily="34" charset="-120"/>
                        </a:rPr>
                        <a:t>Memory</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0.0198</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0.0352</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93B"/>
                          </a:solidFill>
                          <a:latin typeface="Calibri" pitchFamily="34" charset="0"/>
                          <a:ea typeface="Calibri" pitchFamily="34" charset="-122"/>
                          <a:cs typeface="Calibri" pitchFamily="34" charset="-120"/>
                        </a:rPr>
                        <a:t>0.2143</a:t>
                      </a:r>
                      <a:endParaRPr lang="en-US" sz="1400" dirty="0">
                        <a:latin typeface="Calibri" charset="0"/>
                        <a:ea typeface="Calibri" charset="0"/>
                        <a:cs typeface="Calibri" charset="0"/>
                      </a:endParaRPr>
                    </a:p>
                  </a:txBody>
                  <a:tcPr>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5" name="Text 11"/>
          <p:cNvSpPr txBox="1"/>
          <p:nvPr/>
        </p:nvSpPr>
        <p:spPr>
          <a:xfrm>
            <a:off x="457200" y="4206240"/>
            <a:ext cx="8229600" cy="32004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Pipeline verified end to end: prediction, scheduling, allocation and cloud storage.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12">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Results: Error Metrics &amp; R²</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graphicFrame>
        <p:nvGraphicFramePr>
          <p:cNvPr id="5" name="Chart 0"/>
          <p:cNvGraphicFramePr/>
          <p:nvPr/>
        </p:nvGraphicFramePr>
        <p:xfrm>
          <a:off x="457200" y="1097280"/>
          <a:ext cx="475488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5394960" y="1097280"/>
          <a:ext cx="329184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2"/>
          <p:cNvSpPr/>
          <p:nvPr/>
        </p:nvSpPr>
        <p:spPr>
          <a:xfrm>
            <a:off x="457200" y="4069080"/>
            <a:ext cx="8229600" cy="548640"/>
          </a:xfrm>
          <a:prstGeom prst="roundRect">
            <a:avLst>
              <a:gd name="adj" fmla="val 13333"/>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8" name="Text 3"/>
          <p:cNvSpPr txBox="1"/>
          <p:nvPr/>
        </p:nvSpPr>
        <p:spPr>
          <a:xfrm>
            <a:off x="640080" y="4069080"/>
            <a:ext cx="7863840" cy="5486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Low absolute errors, but R² of 0.11 (CPU) and 0.21 (memory) means limited explained variance.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3" name="Shape 1"/>
          <p:cNvSpPr/>
          <p:nvPr/>
        </p:nvSpPr>
        <p:spPr>
          <a:xfrm>
            <a:off x="457200" y="1097280"/>
            <a:ext cx="4023360" cy="1554480"/>
          </a:xfrm>
          <a:prstGeom prst="roundRect">
            <a:avLst>
              <a:gd name="adj" fmla="val 4706"/>
            </a:avLst>
          </a:prstGeom>
          <a:solidFill>
            <a:srgbClr val="12305A"/>
          </a:solidFill>
          <a:ln w="12700">
            <a:solidFill>
              <a:srgbClr val="12305A"/>
            </a:solidFill>
            <a:prstDash val="solid"/>
          </a:ln>
        </p:spPr>
      </p:sp>
      <p:sp>
        <p:nvSpPr>
          <p:cNvPr id="4" name="Text 2"/>
          <p:cNvSpPr txBox="1"/>
          <p:nvPr/>
        </p:nvSpPr>
        <p:spPr>
          <a:xfrm>
            <a:off x="640080" y="128016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1</a:t>
            </a:r>
            <a:endParaRPr lang="en-US" sz="1400" dirty="0"/>
          </a:p>
        </p:txBody>
      </p:sp>
      <p:sp>
        <p:nvSpPr>
          <p:cNvPr id="5" name="Text 3"/>
          <p:cNvSpPr txBox="1"/>
          <p:nvPr/>
        </p:nvSpPr>
        <p:spPr>
          <a:xfrm>
            <a:off x="1234440" y="1280160"/>
            <a:ext cx="3108960" cy="365760"/>
          </a:xfrm>
          <a:prstGeom prst="rect">
            <a:avLst/>
          </a:prstGeom>
          <a:noFill/>
          <a:ln/>
        </p:spPr>
        <p:txBody>
          <a:bodyPr wrap="square" lIns="0" tIns="0" rIns="0" bIns="0" rtlCol="0" anchor="ctr"/>
          <a:lstStyle/>
          <a:p>
            <a:pPr marL="0" indent="0">
              <a:buNone/>
            </a:pPr>
            <a:r>
              <a:rPr lang="en-US" sz="1800" b="1" dirty="0">
                <a:solidFill>
                  <a:srgbClr val="06B6D4"/>
                </a:solidFill>
                <a:latin typeface="Cambria" pitchFamily="34" charset="0"/>
                <a:ea typeface="Cambria" pitchFamily="34" charset="-122"/>
                <a:cs typeface="Cambria" pitchFamily="34" charset="-120"/>
              </a:rPr>
              <a:t>Generalized</a:t>
            </a:r>
            <a:endParaRPr lang="en-US" sz="1800" dirty="0"/>
          </a:p>
        </p:txBody>
      </p:sp>
      <p:sp>
        <p:nvSpPr>
          <p:cNvPr id="6" name="Text 4"/>
          <p:cNvSpPr txBox="1"/>
          <p:nvPr/>
        </p:nvSpPr>
        <p:spPr>
          <a:xfrm>
            <a:off x="685800" y="1828800"/>
            <a:ext cx="35661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Works from any raw CSV workload dataset using automatic column detection</a:t>
            </a:r>
            <a:endParaRPr lang="en-US" sz="1400" dirty="0"/>
          </a:p>
        </p:txBody>
      </p:sp>
      <p:sp>
        <p:nvSpPr>
          <p:cNvPr id="7" name="Shape 5"/>
          <p:cNvSpPr/>
          <p:nvPr/>
        </p:nvSpPr>
        <p:spPr>
          <a:xfrm>
            <a:off x="4663440" y="1097280"/>
            <a:ext cx="4023360" cy="1554480"/>
          </a:xfrm>
          <a:prstGeom prst="roundRect">
            <a:avLst>
              <a:gd name="adj" fmla="val 4706"/>
            </a:avLst>
          </a:prstGeom>
          <a:solidFill>
            <a:srgbClr val="12305A"/>
          </a:solidFill>
          <a:ln w="12700">
            <a:solidFill>
              <a:srgbClr val="12305A"/>
            </a:solidFill>
            <a:prstDash val="solid"/>
          </a:ln>
        </p:spPr>
      </p:sp>
      <p:sp>
        <p:nvSpPr>
          <p:cNvPr id="8" name="Text 6"/>
          <p:cNvSpPr txBox="1"/>
          <p:nvPr/>
        </p:nvSpPr>
        <p:spPr>
          <a:xfrm>
            <a:off x="4846320" y="128016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2</a:t>
            </a:r>
            <a:endParaRPr lang="en-US" sz="1400" dirty="0"/>
          </a:p>
        </p:txBody>
      </p:sp>
      <p:sp>
        <p:nvSpPr>
          <p:cNvPr id="9" name="Text 7"/>
          <p:cNvSpPr txBox="1"/>
          <p:nvPr/>
        </p:nvSpPr>
        <p:spPr>
          <a:xfrm>
            <a:off x="5440680" y="1280160"/>
            <a:ext cx="3108960" cy="365760"/>
          </a:xfrm>
          <a:prstGeom prst="rect">
            <a:avLst/>
          </a:prstGeom>
          <a:noFill/>
          <a:ln/>
        </p:spPr>
        <p:txBody>
          <a:bodyPr wrap="square" lIns="0" tIns="0" rIns="0" bIns="0" rtlCol="0" anchor="ctr"/>
          <a:lstStyle/>
          <a:p>
            <a:pPr marL="0" indent="0">
              <a:buNone/>
            </a:pPr>
            <a:r>
              <a:rPr lang="en-US" sz="1800" b="1" dirty="0">
                <a:solidFill>
                  <a:srgbClr val="06B6D4"/>
                </a:solidFill>
                <a:latin typeface="Cambria" pitchFamily="34" charset="0"/>
                <a:ea typeface="Cambria" pitchFamily="34" charset="-122"/>
                <a:cs typeface="Cambria" pitchFamily="34" charset="-120"/>
              </a:rPr>
              <a:t>Predicts</a:t>
            </a:r>
            <a:endParaRPr lang="en-US" sz="1800" dirty="0"/>
          </a:p>
        </p:txBody>
      </p:sp>
      <p:sp>
        <p:nvSpPr>
          <p:cNvPr id="10" name="Text 8"/>
          <p:cNvSpPr txBox="1"/>
          <p:nvPr/>
        </p:nvSpPr>
        <p:spPr>
          <a:xfrm>
            <a:off x="4892040" y="1828800"/>
            <a:ext cx="35661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Random Forest models forecast next CPU and memory usage</a:t>
            </a:r>
            <a:endParaRPr lang="en-US" sz="1400" dirty="0"/>
          </a:p>
        </p:txBody>
      </p:sp>
      <p:sp>
        <p:nvSpPr>
          <p:cNvPr id="11" name="Shape 9"/>
          <p:cNvSpPr/>
          <p:nvPr/>
        </p:nvSpPr>
        <p:spPr>
          <a:xfrm>
            <a:off x="457200" y="2834640"/>
            <a:ext cx="4023360" cy="1554480"/>
          </a:xfrm>
          <a:prstGeom prst="roundRect">
            <a:avLst>
              <a:gd name="adj" fmla="val 4706"/>
            </a:avLst>
          </a:prstGeom>
          <a:solidFill>
            <a:srgbClr val="12305A"/>
          </a:solidFill>
          <a:ln w="12700">
            <a:solidFill>
              <a:srgbClr val="12305A"/>
            </a:solidFill>
            <a:prstDash val="solid"/>
          </a:ln>
        </p:spPr>
      </p:sp>
      <p:sp>
        <p:nvSpPr>
          <p:cNvPr id="12" name="Text 10"/>
          <p:cNvSpPr txBox="1"/>
          <p:nvPr/>
        </p:nvSpPr>
        <p:spPr>
          <a:xfrm>
            <a:off x="640080" y="301752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3</a:t>
            </a:r>
            <a:endParaRPr lang="en-US" sz="1400" dirty="0"/>
          </a:p>
        </p:txBody>
      </p:sp>
      <p:sp>
        <p:nvSpPr>
          <p:cNvPr id="13" name="Text 11"/>
          <p:cNvSpPr txBox="1"/>
          <p:nvPr/>
        </p:nvSpPr>
        <p:spPr>
          <a:xfrm>
            <a:off x="1234440" y="3017520"/>
            <a:ext cx="3108960" cy="365760"/>
          </a:xfrm>
          <a:prstGeom prst="rect">
            <a:avLst/>
          </a:prstGeom>
          <a:noFill/>
          <a:ln/>
        </p:spPr>
        <p:txBody>
          <a:bodyPr wrap="square" lIns="0" tIns="0" rIns="0" bIns="0" rtlCol="0" anchor="ctr"/>
          <a:lstStyle/>
          <a:p>
            <a:pPr marL="0" indent="0">
              <a:buNone/>
            </a:pPr>
            <a:r>
              <a:rPr lang="en-US" sz="1800" b="1" dirty="0">
                <a:solidFill>
                  <a:srgbClr val="06B6D4"/>
                </a:solidFill>
                <a:latin typeface="Cambria" pitchFamily="34" charset="0"/>
                <a:ea typeface="Cambria" pitchFamily="34" charset="-122"/>
                <a:cs typeface="Cambria" pitchFamily="34" charset="-120"/>
              </a:rPr>
              <a:t>Schedules &amp; allocates</a:t>
            </a:r>
            <a:endParaRPr lang="en-US" sz="1800" dirty="0"/>
          </a:p>
        </p:txBody>
      </p:sp>
      <p:sp>
        <p:nvSpPr>
          <p:cNvPr id="14" name="Text 12"/>
          <p:cNvSpPr txBox="1"/>
          <p:nvPr/>
        </p:nvSpPr>
        <p:spPr>
          <a:xfrm>
            <a:off x="685800" y="3566160"/>
            <a:ext cx="3566160" cy="731520"/>
          </a:xfrm>
          <a:prstGeom prst="rect">
            <a:avLst/>
          </a:prstGeom>
          <a:noFill/>
          <a:ln/>
        </p:spPr>
        <p:txBody>
          <a:bodyPr wrap="square" lIns="0" tIns="0" rIns="0" bIns="0" rtlCol="0" anchor="t"/>
          <a:lstStyle/>
          <a:p>
            <a:r>
              <a:rPr lang="en-US" sz="1400" dirty="0">
                <a:solidFill>
                  <a:srgbClr val="FFFFFF"/>
                </a:solidFill>
                <a:latin typeface="Calibri" pitchFamily="34" charset="0"/>
                <a:ea typeface="Calibri" pitchFamily="34" charset="-122"/>
                <a:cs typeface="Calibri" pitchFamily="34" charset="-120"/>
              </a:rPr>
              <a:t>Priority-based, time-aware allocation with resource release and reuse</a:t>
            </a:r>
            <a:endParaRPr lang="en-US" sz="1400" dirty="0"/>
          </a:p>
        </p:txBody>
      </p:sp>
      <p:sp>
        <p:nvSpPr>
          <p:cNvPr id="15" name="Shape 13"/>
          <p:cNvSpPr/>
          <p:nvPr/>
        </p:nvSpPr>
        <p:spPr>
          <a:xfrm>
            <a:off x="4663440" y="2834640"/>
            <a:ext cx="4023360" cy="1554480"/>
          </a:xfrm>
          <a:prstGeom prst="roundRect">
            <a:avLst>
              <a:gd name="adj" fmla="val 4706"/>
            </a:avLst>
          </a:prstGeom>
          <a:solidFill>
            <a:srgbClr val="12305A"/>
          </a:solidFill>
          <a:ln w="12700">
            <a:solidFill>
              <a:srgbClr val="12305A"/>
            </a:solidFill>
            <a:prstDash val="solid"/>
          </a:ln>
        </p:spPr>
      </p:sp>
      <p:sp>
        <p:nvSpPr>
          <p:cNvPr id="16" name="Text 14"/>
          <p:cNvSpPr txBox="1"/>
          <p:nvPr/>
        </p:nvSpPr>
        <p:spPr>
          <a:xfrm>
            <a:off x="4846320" y="3017520"/>
            <a:ext cx="411480" cy="411480"/>
          </a:xfrm>
          <a:prstGeom prst="ellipse">
            <a:avLst/>
          </a:prstGeom>
          <a:solidFill>
            <a:srgbClr val="06B6D4"/>
          </a:solidFill>
          <a:ln/>
        </p:spPr>
        <p:txBody>
          <a:bodyPr wrap="square" lIns="0" tIns="0" rIns="0" bIns="0" rtlCol="0" anchor="ctr"/>
          <a:lstStyle/>
          <a:p>
            <a:pPr marL="0" indent="0" algn="ctr">
              <a:buNone/>
            </a:pPr>
            <a:r>
              <a:rPr lang="en-US" sz="1400" b="1" dirty="0">
                <a:solidFill>
                  <a:srgbClr val="0B1F3A"/>
                </a:solidFill>
              </a:rPr>
              <a:t>4</a:t>
            </a:r>
            <a:endParaRPr lang="en-US" sz="1400" dirty="0"/>
          </a:p>
        </p:txBody>
      </p:sp>
      <p:sp>
        <p:nvSpPr>
          <p:cNvPr id="17" name="Text 15"/>
          <p:cNvSpPr txBox="1"/>
          <p:nvPr/>
        </p:nvSpPr>
        <p:spPr>
          <a:xfrm>
            <a:off x="5440680" y="3017520"/>
            <a:ext cx="3108960" cy="365760"/>
          </a:xfrm>
          <a:prstGeom prst="rect">
            <a:avLst/>
          </a:prstGeom>
          <a:noFill/>
          <a:ln/>
        </p:spPr>
        <p:txBody>
          <a:bodyPr wrap="square" lIns="0" tIns="0" rIns="0" bIns="0" rtlCol="0" anchor="ctr"/>
          <a:lstStyle/>
          <a:p>
            <a:pPr marL="0" indent="0">
              <a:buNone/>
            </a:pPr>
            <a:r>
              <a:rPr lang="en-US" sz="1800" b="1" dirty="0">
                <a:solidFill>
                  <a:srgbClr val="06B6D4"/>
                </a:solidFill>
                <a:latin typeface="Cambria" pitchFamily="34" charset="0"/>
                <a:ea typeface="Cambria" pitchFamily="34" charset="-122"/>
                <a:cs typeface="Cambria" pitchFamily="34" charset="-120"/>
              </a:rPr>
              <a:t>End to end</a:t>
            </a:r>
            <a:endParaRPr lang="en-US" sz="1800" dirty="0"/>
          </a:p>
        </p:txBody>
      </p:sp>
      <p:sp>
        <p:nvSpPr>
          <p:cNvPr id="18" name="Text 16"/>
          <p:cNvSpPr txBox="1"/>
          <p:nvPr/>
        </p:nvSpPr>
        <p:spPr>
          <a:xfrm>
            <a:off x="4892040" y="3566160"/>
            <a:ext cx="35661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FastAPI backend, React dashboard and results stored in AWS S3</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Limitations &amp; Future Scope</a:t>
            </a:r>
            <a:endParaRPr lang="en-US" sz="2800" dirty="0"/>
          </a:p>
        </p:txBody>
      </p:sp>
      <p:sp>
        <p:nvSpPr>
          <p:cNvPr id="3" name="Text 1"/>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5" name="Shape 2"/>
          <p:cNvSpPr/>
          <p:nvPr/>
        </p:nvSpPr>
        <p:spPr>
          <a:xfrm>
            <a:off x="457200" y="1097280"/>
            <a:ext cx="4023360" cy="3474720"/>
          </a:xfrm>
          <a:prstGeom prst="roundRect">
            <a:avLst>
              <a:gd name="adj" fmla="val 2105"/>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6" name="Text 3"/>
          <p:cNvSpPr txBox="1"/>
          <p:nvPr/>
        </p:nvSpPr>
        <p:spPr>
          <a:xfrm>
            <a:off x="640080" y="1234440"/>
            <a:ext cx="3657600" cy="365760"/>
          </a:xfrm>
          <a:prstGeom prst="rect">
            <a:avLst/>
          </a:prstGeom>
          <a:noFill/>
          <a:ln/>
        </p:spPr>
        <p:txBody>
          <a:bodyPr wrap="square" lIns="0" tIns="0" rIns="0" bIns="0" rtlCol="0" anchor="t"/>
          <a:lstStyle/>
          <a:p>
            <a:pPr marL="0" indent="0">
              <a:buNone/>
            </a:pPr>
            <a:r>
              <a:rPr lang="en-US" sz="2000" b="1" dirty="0">
                <a:solidFill>
                  <a:srgbClr val="DC2626"/>
                </a:solidFill>
                <a:latin typeface="Cambria" pitchFamily="34" charset="0"/>
                <a:ea typeface="Cambria" pitchFamily="34" charset="-122"/>
                <a:cs typeface="Cambria" pitchFamily="34" charset="-120"/>
              </a:rPr>
              <a:t>Limitations</a:t>
            </a:r>
            <a:endParaRPr lang="en-US" sz="2000" dirty="0"/>
          </a:p>
        </p:txBody>
      </p:sp>
      <p:sp>
        <p:nvSpPr>
          <p:cNvPr id="7" name="Text 4"/>
          <p:cNvSpPr txBox="1"/>
          <p:nvPr/>
        </p:nvSpPr>
        <p:spPr>
          <a:xfrm>
            <a:off x="640080" y="1737360"/>
            <a:ext cx="3657600" cy="2743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R² is 0.1055 (CPU) and 0.2143 (memory): limited explained variance</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Random Forest is the only model family used</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Results reported on the main dataset (about 200,240 rows)</a:t>
            </a:r>
            <a:endParaRPr lang="en-US" sz="1400" dirty="0"/>
          </a:p>
        </p:txBody>
      </p:sp>
      <p:sp>
        <p:nvSpPr>
          <p:cNvPr id="8" name="Shape 5"/>
          <p:cNvSpPr/>
          <p:nvPr/>
        </p:nvSpPr>
        <p:spPr>
          <a:xfrm>
            <a:off x="4663440" y="1097280"/>
            <a:ext cx="4023360" cy="3474720"/>
          </a:xfrm>
          <a:prstGeom prst="roundRect">
            <a:avLst>
              <a:gd name="adj" fmla="val 2105"/>
            </a:avLst>
          </a:prstGeom>
          <a:solidFill>
            <a:srgbClr val="FFFFFF"/>
          </a:solidFill>
          <a:ln w="9525">
            <a:solidFill>
              <a:srgbClr val="DCE6F0"/>
            </a:solidFill>
            <a:prstDash val="solid"/>
          </a:ln>
          <a:effectLst>
            <a:outerShdw blurRad="76200" dist="25400" dir="5400000" algn="bl" rotWithShape="0">
              <a:srgbClr val="0B1F3A">
                <a:alpha val="12000"/>
              </a:srgbClr>
            </a:outerShdw>
          </a:effectLst>
        </p:spPr>
      </p:sp>
      <p:sp>
        <p:nvSpPr>
          <p:cNvPr id="9" name="Text 6"/>
          <p:cNvSpPr txBox="1"/>
          <p:nvPr/>
        </p:nvSpPr>
        <p:spPr>
          <a:xfrm>
            <a:off x="4846320" y="1234440"/>
            <a:ext cx="3657600" cy="365760"/>
          </a:xfrm>
          <a:prstGeom prst="rect">
            <a:avLst/>
          </a:prstGeom>
          <a:noFill/>
          <a:ln/>
        </p:spPr>
        <p:txBody>
          <a:bodyPr wrap="square" lIns="0" tIns="0" rIns="0" bIns="0" rtlCol="0" anchor="t"/>
          <a:lstStyle/>
          <a:p>
            <a:pPr marL="0" indent="0">
              <a:buNone/>
            </a:pPr>
            <a:r>
              <a:rPr lang="en-US" sz="2000" b="1" dirty="0">
                <a:solidFill>
                  <a:srgbClr val="0E7490"/>
                </a:solidFill>
                <a:latin typeface="Cambria" pitchFamily="34" charset="0"/>
                <a:ea typeface="Cambria" pitchFamily="34" charset="-122"/>
                <a:cs typeface="Cambria" pitchFamily="34" charset="-120"/>
              </a:rPr>
              <a:t>Future scope (proposed)</a:t>
            </a:r>
            <a:endParaRPr lang="en-US" sz="2000" dirty="0"/>
          </a:p>
        </p:txBody>
      </p:sp>
      <p:sp>
        <p:nvSpPr>
          <p:cNvPr id="10" name="Text 7"/>
          <p:cNvSpPr txBox="1"/>
          <p:nvPr/>
        </p:nvSpPr>
        <p:spPr>
          <a:xfrm>
            <a:off x="4846320" y="1737360"/>
            <a:ext cx="3657600" cy="2743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Tune models and enrich features to raise R²</a:t>
            </a:r>
            <a:endParaRPr lang="en-US" sz="1400" dirty="0"/>
          </a:p>
          <a:p>
            <a:pPr marL="342900" indent="-342900">
              <a:spcAft>
                <a:spcPts val="400"/>
              </a:spcAft>
              <a:buSzPct val="100000"/>
              <a:buChar char="•"/>
            </a:pPr>
            <a:r>
              <a:rPr lang="en-US" sz="1400" b="1" dirty="0">
                <a:solidFill>
                  <a:srgbClr val="1E293B"/>
                </a:solidFill>
                <a:latin typeface="Calibri" pitchFamily="34" charset="0"/>
                <a:ea typeface="Calibri" pitchFamily="34" charset="-122"/>
                <a:cs typeface="Calibri" pitchFamily="34" charset="-120"/>
              </a:rPr>
              <a:t>Compare other regression and time-series models</a:t>
            </a:r>
            <a:endParaRPr lang="en-US" sz="1400" b="1"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Validate on more CSV workload datasets</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Refine scheduling and allocation policies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r>
              <a:rPr lang="en-US" dirty="0"/>
              <a:t>21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3F7FB"/>
        </a:solidFill>
        <a:effectLst/>
      </p:bgPr>
    </p:bg>
    <p:spTree>
      <p:nvGrpSpPr>
        <p:cNvPr id="1" name="">
          <a:extLst>
            <a:ext uri="{FF2B5EF4-FFF2-40B4-BE49-F238E27FC236}">
              <a16:creationId xmlns:a16="http://schemas.microsoft.com/office/drawing/2014/main" id="{E9A11FD5-BC7A-0C12-023A-CB06FC1FE1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5FC744E-93BC-34D2-34D0-93181B24C6C7}"/>
              </a:ext>
            </a:extLst>
          </p:cNvPr>
          <p:cNvSpPr txBox="1"/>
          <p:nvPr/>
        </p:nvSpPr>
        <p:spPr>
          <a:xfrm>
            <a:off x="3592749" y="2212232"/>
            <a:ext cx="2230877"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Thank You</a:t>
            </a:r>
            <a:endParaRPr lang="en-US" sz="2800" dirty="0"/>
          </a:p>
        </p:txBody>
      </p:sp>
      <p:sp>
        <p:nvSpPr>
          <p:cNvPr id="3" name="Text 1">
            <a:extLst>
              <a:ext uri="{FF2B5EF4-FFF2-40B4-BE49-F238E27FC236}">
                <a16:creationId xmlns:a16="http://schemas.microsoft.com/office/drawing/2014/main" id="{9599CC80-CDC9-66FD-8FD9-59DD6EBA1BFA}"/>
              </a:ext>
            </a:extLst>
          </p:cNvPr>
          <p:cNvSpPr txBox="1"/>
          <p:nvPr/>
        </p:nvSpPr>
        <p:spPr>
          <a:xfrm>
            <a:off x="457200" y="4800600"/>
            <a:ext cx="5486400" cy="228600"/>
          </a:xfrm>
          <a:prstGeom prst="rect">
            <a:avLst/>
          </a:prstGeom>
          <a:noFill/>
          <a:ln/>
        </p:spPr>
        <p:txBody>
          <a:bodyPr wrap="square" lIns="0" tIns="0" rIns="0" bIns="0" rtlCol="0" anchor="t"/>
          <a:lstStyle/>
          <a:p>
            <a:pPr marL="0" indent="0">
              <a:buNone/>
            </a:pPr>
            <a:r>
              <a:rPr lang="en-US" sz="1000" dirty="0">
                <a:solidFill>
                  <a:srgbClr val="64748B"/>
                </a:solidFill>
                <a:latin typeface="Calibri" pitchFamily="34" charset="0"/>
                <a:ea typeface="Calibri" pitchFamily="34" charset="-122"/>
                <a:cs typeface="Calibri" pitchFamily="34" charset="-120"/>
              </a:rPr>
              <a:t>Container Resource Optimization in Cloud Computing</a:t>
            </a:r>
            <a:endParaRPr lang="en-US" sz="1000" dirty="0"/>
          </a:p>
        </p:txBody>
      </p:sp>
      <p:sp>
        <p:nvSpPr>
          <p:cNvPr id="4" name="Slide Number Placeholder 0">
            <a:extLst>
              <a:ext uri="{FF2B5EF4-FFF2-40B4-BE49-F238E27FC236}">
                <a16:creationId xmlns:a16="http://schemas.microsoft.com/office/drawing/2014/main" id="{4BCF2C33-0027-499B-D68A-DCFCC7265AB9}"/>
              </a:ext>
            </a:extLst>
          </p:cNvPr>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r>
              <a:rPr lang="en-US" dirty="0"/>
              <a:t>22</a:t>
            </a:r>
          </a:p>
        </p:txBody>
      </p:sp>
    </p:spTree>
    <p:extLst>
      <p:ext uri="{BB962C8B-B14F-4D97-AF65-F5344CB8AC3E}">
        <p14:creationId xmlns:p14="http://schemas.microsoft.com/office/powerpoint/2010/main" val="2270976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1656</Words>
  <Application>Microsoft Office PowerPoint</Application>
  <PresentationFormat>On-screen Show (16:9)</PresentationFormat>
  <Paragraphs>336</Paragraphs>
  <Slides>24</Slides>
  <Notes>24</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 Resource Optimization in Cloud Computing</dc:title>
  <dc:subject>PptxGenJS Presentation</dc:subject>
  <dc:creator>PptxGenJS</dc:creator>
  <cp:lastModifiedBy>Pavni Arora</cp:lastModifiedBy>
  <cp:revision>7</cp:revision>
  <dcterms:created xsi:type="dcterms:W3CDTF">2026-10-08T16:05:32Z</dcterms:created>
  <dcterms:modified xsi:type="dcterms:W3CDTF">2026-10-08T18:31:00Z</dcterms:modified>
</cp:coreProperties>
</file>